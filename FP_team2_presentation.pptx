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okoto" charset="1" panose="00000000000000000000"/>
      <p:regular r:id="rId22"/>
    </p:embeddedFont>
    <p:embeddedFont>
      <p:font typeface="Atkinson Hyperlegible Bold" charset="1" panose="00000000000000000000"/>
      <p:regular r:id="rId23"/>
    </p:embeddedFont>
    <p:embeddedFont>
      <p:font typeface="Atkinson Hyperlegible" charset="1" panose="00000000000000000000"/>
      <p:regular r:id="rId24"/>
    </p:embeddedFont>
    <p:embeddedFont>
      <p:font typeface="Computer Says No" charset="1" panose="00000400000000000000"/>
      <p:regular r:id="rId28"/>
    </p:embeddedFont>
    <p:embeddedFont>
      <p:font typeface="Atkinson Hyperlegible Italics"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https://github.com/Bithealth-x-Hacktiv8/final-project-team2-group-2/blob/main/Hospital_data.csv"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2" Target="../media/image28.png" Type="http://schemas.openxmlformats.org/officeDocument/2006/relationships/image"/><Relationship Id="rId3" Target="../media/image27.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png" Type="http://schemas.openxmlformats.org/officeDocument/2006/relationships/image"/><Relationship Id="rId9"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715334" y="-4715834"/>
            <a:ext cx="19718669" cy="19718669"/>
          </a:xfrm>
          <a:custGeom>
            <a:avLst/>
            <a:gdLst/>
            <a:ahLst/>
            <a:cxnLst/>
            <a:rect r="r" b="b" t="t" l="l"/>
            <a:pathLst>
              <a:path h="19718669" w="19718669">
                <a:moveTo>
                  <a:pt x="0" y="0"/>
                </a:moveTo>
                <a:lnTo>
                  <a:pt x="19718668" y="0"/>
                </a:lnTo>
                <a:lnTo>
                  <a:pt x="19718668" y="19718668"/>
                </a:lnTo>
                <a:lnTo>
                  <a:pt x="0" y="19718668"/>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7976" y="645481"/>
            <a:ext cx="12129844" cy="10704588"/>
          </a:xfrm>
          <a:custGeom>
            <a:avLst/>
            <a:gdLst/>
            <a:ahLst/>
            <a:cxnLst/>
            <a:rect r="r" b="b" t="t" l="l"/>
            <a:pathLst>
              <a:path h="10704588" w="12129844">
                <a:moveTo>
                  <a:pt x="0" y="0"/>
                </a:moveTo>
                <a:lnTo>
                  <a:pt x="12129845" y="0"/>
                </a:lnTo>
                <a:lnTo>
                  <a:pt x="12129845" y="10704588"/>
                </a:lnTo>
                <a:lnTo>
                  <a:pt x="0" y="10704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572470" y="2563897"/>
            <a:ext cx="8380857" cy="1152524"/>
          </a:xfrm>
          <a:prstGeom prst="rect">
            <a:avLst/>
          </a:prstGeom>
        </p:spPr>
        <p:txBody>
          <a:bodyPr anchor="t" rtlCol="false" tIns="0" lIns="0" bIns="0" rIns="0">
            <a:spAutoFit/>
          </a:bodyPr>
          <a:lstStyle/>
          <a:p>
            <a:pPr algn="ctr" marL="0" indent="0" lvl="0">
              <a:lnSpc>
                <a:spcPts val="4499"/>
              </a:lnSpc>
            </a:pPr>
            <a:r>
              <a:rPr lang="en-US" sz="4499">
                <a:solidFill>
                  <a:srgbClr val="F7562B"/>
                </a:solidFill>
                <a:latin typeface="Mokoto"/>
              </a:rPr>
              <a:t>Analisis Kinerja Rumah Sakit Mulia </a:t>
            </a:r>
          </a:p>
        </p:txBody>
      </p:sp>
      <p:sp>
        <p:nvSpPr>
          <p:cNvPr name="TextBox 5" id="5"/>
          <p:cNvSpPr txBox="true"/>
          <p:nvPr/>
        </p:nvSpPr>
        <p:spPr>
          <a:xfrm rot="0">
            <a:off x="2879642" y="5635337"/>
            <a:ext cx="7490966" cy="608838"/>
          </a:xfrm>
          <a:prstGeom prst="rect">
            <a:avLst/>
          </a:prstGeom>
        </p:spPr>
        <p:txBody>
          <a:bodyPr anchor="t" rtlCol="false" tIns="0" lIns="0" bIns="0" rIns="0">
            <a:spAutoFit/>
          </a:bodyPr>
          <a:lstStyle/>
          <a:p>
            <a:pPr algn="ctr" marL="0" indent="0" lvl="0">
              <a:lnSpc>
                <a:spcPts val="5076"/>
              </a:lnSpc>
              <a:spcBef>
                <a:spcPct val="0"/>
              </a:spcBef>
            </a:pPr>
            <a:r>
              <a:rPr lang="en-US" sz="3600">
                <a:solidFill>
                  <a:srgbClr val="FEC801"/>
                </a:solidFill>
                <a:latin typeface="Mokoto"/>
              </a:rPr>
              <a:t>STUDY CASE BUSINESS </a:t>
            </a:r>
          </a:p>
        </p:txBody>
      </p:sp>
      <p:sp>
        <p:nvSpPr>
          <p:cNvPr name="TextBox 6" id="6"/>
          <p:cNvSpPr txBox="true"/>
          <p:nvPr/>
        </p:nvSpPr>
        <p:spPr>
          <a:xfrm rot="0">
            <a:off x="2296923" y="4161211"/>
            <a:ext cx="8349232" cy="1076960"/>
          </a:xfrm>
          <a:prstGeom prst="rect">
            <a:avLst/>
          </a:prstGeom>
        </p:spPr>
        <p:txBody>
          <a:bodyPr anchor="t" rtlCol="false" tIns="0" lIns="0" bIns="0" rIns="0">
            <a:spAutoFit/>
          </a:bodyPr>
          <a:lstStyle/>
          <a:p>
            <a:pPr algn="just" marL="0" indent="0" lvl="0">
              <a:lnSpc>
                <a:spcPts val="2860"/>
              </a:lnSpc>
              <a:spcBef>
                <a:spcPct val="0"/>
              </a:spcBef>
            </a:pPr>
            <a:r>
              <a:rPr lang="en-US" sz="2200">
                <a:solidFill>
                  <a:srgbClr val="000000"/>
                </a:solidFill>
                <a:latin typeface="Atkinson Hyperlegible Bold"/>
              </a:rPr>
              <a:t>Implementasi dan Prediksi Indeks Kinerja Rumah Sakit Berbasis Data untuk Meningkatkan Kepuasan Pasien dan Efisiensi Operasional Rumah Sakit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TextBox 5" id="5"/>
          <p:cNvSpPr txBox="true"/>
          <p:nvPr/>
        </p:nvSpPr>
        <p:spPr>
          <a:xfrm rot="0">
            <a:off x="1583931" y="617982"/>
            <a:ext cx="15120139" cy="726186"/>
          </a:xfrm>
          <a:prstGeom prst="rect">
            <a:avLst/>
          </a:prstGeom>
        </p:spPr>
        <p:txBody>
          <a:bodyPr anchor="t" rtlCol="false" tIns="0" lIns="0" bIns="0" rIns="0">
            <a:spAutoFit/>
          </a:bodyPr>
          <a:lstStyle/>
          <a:p>
            <a:pPr algn="ctr" marL="0" indent="0" lvl="0">
              <a:lnSpc>
                <a:spcPts val="5922"/>
              </a:lnSpc>
              <a:spcBef>
                <a:spcPct val="0"/>
              </a:spcBef>
            </a:pPr>
            <a:r>
              <a:rPr lang="en-US" sz="4200" strike="noStrike" u="none">
                <a:solidFill>
                  <a:srgbClr val="F7562B"/>
                </a:solidFill>
                <a:latin typeface="Mokoto"/>
              </a:rPr>
              <a:t>Our Team Members</a:t>
            </a:r>
          </a:p>
        </p:txBody>
      </p:sp>
      <p:grpSp>
        <p:nvGrpSpPr>
          <p:cNvPr name="Group 6" id="6"/>
          <p:cNvGrpSpPr/>
          <p:nvPr/>
        </p:nvGrpSpPr>
        <p:grpSpPr>
          <a:xfrm rot="0">
            <a:off x="3112344" y="1852738"/>
            <a:ext cx="3176602" cy="3806399"/>
            <a:chOff x="0" y="0"/>
            <a:chExt cx="4235469" cy="5075199"/>
          </a:xfrm>
        </p:grpSpPr>
        <p:grpSp>
          <p:nvGrpSpPr>
            <p:cNvPr name="Group 7" id="7"/>
            <p:cNvGrpSpPr/>
            <p:nvPr/>
          </p:nvGrpSpPr>
          <p:grpSpPr>
            <a:xfrm rot="0">
              <a:off x="0" y="0"/>
              <a:ext cx="4235469" cy="423546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ED7843"/>
              </a:solidFill>
              <a:ln w="47625" cap="rnd">
                <a:solidFill>
                  <a:srgbClr val="000000"/>
                </a:solidFill>
                <a:prstDash val="solid"/>
                <a:round/>
              </a:ln>
            </p:spPr>
          </p:sp>
          <p:sp>
            <p:nvSpPr>
              <p:cNvPr name="TextBox 9" id="9"/>
              <p:cNvSpPr txBox="true"/>
              <p:nvPr/>
            </p:nvSpPr>
            <p:spPr>
              <a:xfrm>
                <a:off x="76200" y="0"/>
                <a:ext cx="660400" cy="736600"/>
              </a:xfrm>
              <a:prstGeom prst="rect">
                <a:avLst/>
              </a:prstGeom>
            </p:spPr>
            <p:txBody>
              <a:bodyPr anchor="ctr" rtlCol="false" tIns="50800" lIns="50800" bIns="50800" rIns="50800"/>
              <a:lstStyle/>
              <a:p>
                <a:pPr algn="ctr" marL="0" indent="0" lvl="0">
                  <a:lnSpc>
                    <a:spcPts val="3672"/>
                  </a:lnSpc>
                  <a:spcBef>
                    <a:spcPct val="0"/>
                  </a:spcBef>
                </a:pPr>
              </a:p>
            </p:txBody>
          </p:sp>
        </p:grpSp>
        <p:grpSp>
          <p:nvGrpSpPr>
            <p:cNvPr name="Group 10" id="10"/>
            <p:cNvGrpSpPr>
              <a:grpSpLocks noChangeAspect="true"/>
            </p:cNvGrpSpPr>
            <p:nvPr/>
          </p:nvGrpSpPr>
          <p:grpSpPr>
            <a:xfrm rot="0">
              <a:off x="51741" y="28757"/>
              <a:ext cx="4131988" cy="4131971"/>
              <a:chOff x="0" y="0"/>
              <a:chExt cx="6350000" cy="6349975"/>
            </a:xfrm>
          </p:grpSpPr>
          <p:sp>
            <p:nvSpPr>
              <p:cNvPr name="Freeform 11" id="11"/>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0" t="0" r="0" b="-42857"/>
                </a:stretch>
              </a:blipFill>
            </p:spPr>
          </p:sp>
        </p:grpSp>
        <p:sp>
          <p:nvSpPr>
            <p:cNvPr name="TextBox 12" id="12"/>
            <p:cNvSpPr txBox="true"/>
            <p:nvPr/>
          </p:nvSpPr>
          <p:spPr>
            <a:xfrm rot="0">
              <a:off x="977873" y="4664123"/>
              <a:ext cx="2383204" cy="411075"/>
            </a:xfrm>
            <a:prstGeom prst="rect">
              <a:avLst/>
            </a:prstGeom>
          </p:spPr>
          <p:txBody>
            <a:bodyPr anchor="t" rtlCol="false" tIns="0" lIns="0" bIns="0" rIns="0">
              <a:spAutoFit/>
            </a:bodyPr>
            <a:lstStyle/>
            <a:p>
              <a:pPr algn="ctr" marL="0" indent="0" lvl="0">
                <a:lnSpc>
                  <a:spcPts val="2471"/>
                </a:lnSpc>
                <a:spcBef>
                  <a:spcPct val="0"/>
                </a:spcBef>
              </a:pPr>
              <a:r>
                <a:rPr lang="en-US" sz="2059">
                  <a:solidFill>
                    <a:srgbClr val="000000"/>
                  </a:solidFill>
                  <a:latin typeface="Atkinson Hyperlegible Semi-Bold"/>
                </a:rPr>
                <a:t>Alwan</a:t>
              </a:r>
            </a:p>
          </p:txBody>
        </p:sp>
      </p:grpSp>
      <p:grpSp>
        <p:nvGrpSpPr>
          <p:cNvPr name="Group 13" id="13"/>
          <p:cNvGrpSpPr/>
          <p:nvPr/>
        </p:nvGrpSpPr>
        <p:grpSpPr>
          <a:xfrm rot="0">
            <a:off x="7555699" y="1852738"/>
            <a:ext cx="3176602" cy="3806399"/>
            <a:chOff x="0" y="0"/>
            <a:chExt cx="4235469" cy="5075199"/>
          </a:xfrm>
        </p:grpSpPr>
        <p:grpSp>
          <p:nvGrpSpPr>
            <p:cNvPr name="Group 14" id="14"/>
            <p:cNvGrpSpPr/>
            <p:nvPr/>
          </p:nvGrpSpPr>
          <p:grpSpPr>
            <a:xfrm rot="0">
              <a:off x="0" y="0"/>
              <a:ext cx="4235469" cy="423546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ED7843"/>
              </a:solidFill>
              <a:ln w="47625" cap="rnd">
                <a:solidFill>
                  <a:srgbClr val="000000"/>
                </a:solidFill>
                <a:prstDash val="solid"/>
                <a:round/>
              </a:ln>
            </p:spPr>
          </p:sp>
          <p:sp>
            <p:nvSpPr>
              <p:cNvPr name="TextBox 16" id="16"/>
              <p:cNvSpPr txBox="true"/>
              <p:nvPr/>
            </p:nvSpPr>
            <p:spPr>
              <a:xfrm>
                <a:off x="76200" y="0"/>
                <a:ext cx="660400" cy="736600"/>
              </a:xfrm>
              <a:prstGeom prst="rect">
                <a:avLst/>
              </a:prstGeom>
            </p:spPr>
            <p:txBody>
              <a:bodyPr anchor="ctr" rtlCol="false" tIns="50800" lIns="50800" bIns="50800" rIns="50800"/>
              <a:lstStyle/>
              <a:p>
                <a:pPr algn="ctr" marL="0" indent="0" lvl="0">
                  <a:lnSpc>
                    <a:spcPts val="3672"/>
                  </a:lnSpc>
                  <a:spcBef>
                    <a:spcPct val="0"/>
                  </a:spcBef>
                </a:pPr>
              </a:p>
            </p:txBody>
          </p:sp>
        </p:grpSp>
        <p:grpSp>
          <p:nvGrpSpPr>
            <p:cNvPr name="Group 17" id="17"/>
            <p:cNvGrpSpPr>
              <a:grpSpLocks noChangeAspect="true"/>
            </p:cNvGrpSpPr>
            <p:nvPr/>
          </p:nvGrpSpPr>
          <p:grpSpPr>
            <a:xfrm rot="0">
              <a:off x="51741" y="28757"/>
              <a:ext cx="4131988" cy="4131971"/>
              <a:chOff x="0" y="0"/>
              <a:chExt cx="6350000" cy="6349975"/>
            </a:xfrm>
          </p:grpSpPr>
          <p:sp>
            <p:nvSpPr>
              <p:cNvPr name="Freeform 18" id="1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0" t="0" r="0" b="0"/>
                </a:stretch>
              </a:blipFill>
            </p:spPr>
          </p:sp>
        </p:grpSp>
        <p:sp>
          <p:nvSpPr>
            <p:cNvPr name="TextBox 19" id="19"/>
            <p:cNvSpPr txBox="true"/>
            <p:nvPr/>
          </p:nvSpPr>
          <p:spPr>
            <a:xfrm rot="0">
              <a:off x="977873" y="4664123"/>
              <a:ext cx="2383204" cy="411075"/>
            </a:xfrm>
            <a:prstGeom prst="rect">
              <a:avLst/>
            </a:prstGeom>
          </p:spPr>
          <p:txBody>
            <a:bodyPr anchor="t" rtlCol="false" tIns="0" lIns="0" bIns="0" rIns="0">
              <a:spAutoFit/>
            </a:bodyPr>
            <a:lstStyle/>
            <a:p>
              <a:pPr algn="ctr" marL="0" indent="0" lvl="0">
                <a:lnSpc>
                  <a:spcPts val="2471"/>
                </a:lnSpc>
                <a:spcBef>
                  <a:spcPct val="0"/>
                </a:spcBef>
              </a:pPr>
              <a:r>
                <a:rPr lang="en-US" sz="2059">
                  <a:solidFill>
                    <a:srgbClr val="000000"/>
                  </a:solidFill>
                  <a:latin typeface="Atkinson Hyperlegible Semi-Bold"/>
                </a:rPr>
                <a:t>Berliana</a:t>
              </a:r>
            </a:p>
          </p:txBody>
        </p:sp>
      </p:grpSp>
      <p:grpSp>
        <p:nvGrpSpPr>
          <p:cNvPr name="Group 20" id="20"/>
          <p:cNvGrpSpPr/>
          <p:nvPr/>
        </p:nvGrpSpPr>
        <p:grpSpPr>
          <a:xfrm rot="0">
            <a:off x="11999054" y="1852738"/>
            <a:ext cx="3176602" cy="3806399"/>
            <a:chOff x="0" y="0"/>
            <a:chExt cx="4235469" cy="5075199"/>
          </a:xfrm>
        </p:grpSpPr>
        <p:grpSp>
          <p:nvGrpSpPr>
            <p:cNvPr name="Group 21" id="21"/>
            <p:cNvGrpSpPr/>
            <p:nvPr/>
          </p:nvGrpSpPr>
          <p:grpSpPr>
            <a:xfrm rot="0">
              <a:off x="0" y="0"/>
              <a:ext cx="4235469" cy="423546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ED7843"/>
              </a:solidFill>
              <a:ln w="47625" cap="rnd">
                <a:solidFill>
                  <a:srgbClr val="000000"/>
                </a:solidFill>
                <a:prstDash val="solid"/>
                <a:round/>
              </a:ln>
            </p:spPr>
          </p:sp>
          <p:sp>
            <p:nvSpPr>
              <p:cNvPr name="TextBox 23" id="23"/>
              <p:cNvSpPr txBox="true"/>
              <p:nvPr/>
            </p:nvSpPr>
            <p:spPr>
              <a:xfrm>
                <a:off x="76200" y="0"/>
                <a:ext cx="660400" cy="736600"/>
              </a:xfrm>
              <a:prstGeom prst="rect">
                <a:avLst/>
              </a:prstGeom>
            </p:spPr>
            <p:txBody>
              <a:bodyPr anchor="ctr" rtlCol="false" tIns="50800" lIns="50800" bIns="50800" rIns="50800"/>
              <a:lstStyle/>
              <a:p>
                <a:pPr algn="ctr" marL="0" indent="0" lvl="0">
                  <a:lnSpc>
                    <a:spcPts val="3672"/>
                  </a:lnSpc>
                  <a:spcBef>
                    <a:spcPct val="0"/>
                  </a:spcBef>
                </a:pPr>
              </a:p>
            </p:txBody>
          </p:sp>
        </p:grpSp>
        <p:grpSp>
          <p:nvGrpSpPr>
            <p:cNvPr name="Group 24" id="24"/>
            <p:cNvGrpSpPr>
              <a:grpSpLocks noChangeAspect="true"/>
            </p:cNvGrpSpPr>
            <p:nvPr/>
          </p:nvGrpSpPr>
          <p:grpSpPr>
            <a:xfrm rot="0">
              <a:off x="51741" y="28757"/>
              <a:ext cx="4131988" cy="4131971"/>
              <a:chOff x="0" y="0"/>
              <a:chExt cx="6350000" cy="6349975"/>
            </a:xfrm>
          </p:grpSpPr>
          <p:sp>
            <p:nvSpPr>
              <p:cNvPr name="Freeform 25" id="2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0" r="0" b="0"/>
                </a:stretch>
              </a:blipFill>
            </p:spPr>
          </p:sp>
        </p:grpSp>
        <p:sp>
          <p:nvSpPr>
            <p:cNvPr name="TextBox 26" id="26"/>
            <p:cNvSpPr txBox="true"/>
            <p:nvPr/>
          </p:nvSpPr>
          <p:spPr>
            <a:xfrm rot="0">
              <a:off x="977873" y="4664123"/>
              <a:ext cx="2383204" cy="411075"/>
            </a:xfrm>
            <a:prstGeom prst="rect">
              <a:avLst/>
            </a:prstGeom>
          </p:spPr>
          <p:txBody>
            <a:bodyPr anchor="t" rtlCol="false" tIns="0" lIns="0" bIns="0" rIns="0">
              <a:spAutoFit/>
            </a:bodyPr>
            <a:lstStyle/>
            <a:p>
              <a:pPr algn="ctr" marL="0" indent="0" lvl="0">
                <a:lnSpc>
                  <a:spcPts val="2471"/>
                </a:lnSpc>
                <a:spcBef>
                  <a:spcPct val="0"/>
                </a:spcBef>
              </a:pPr>
              <a:r>
                <a:rPr lang="en-US" sz="2059">
                  <a:solidFill>
                    <a:srgbClr val="000000"/>
                  </a:solidFill>
                  <a:latin typeface="Atkinson Hyperlegible Semi-Bold"/>
                </a:rPr>
                <a:t>Fakhri</a:t>
              </a:r>
            </a:p>
          </p:txBody>
        </p:sp>
      </p:grpSp>
      <p:grpSp>
        <p:nvGrpSpPr>
          <p:cNvPr name="Group 27" id="27"/>
          <p:cNvGrpSpPr/>
          <p:nvPr/>
        </p:nvGrpSpPr>
        <p:grpSpPr>
          <a:xfrm rot="0">
            <a:off x="5290506" y="5981537"/>
            <a:ext cx="3176602" cy="3806399"/>
            <a:chOff x="0" y="0"/>
            <a:chExt cx="4235469" cy="5075199"/>
          </a:xfrm>
        </p:grpSpPr>
        <p:grpSp>
          <p:nvGrpSpPr>
            <p:cNvPr name="Group 28" id="28"/>
            <p:cNvGrpSpPr/>
            <p:nvPr/>
          </p:nvGrpSpPr>
          <p:grpSpPr>
            <a:xfrm rot="0">
              <a:off x="0" y="0"/>
              <a:ext cx="4235469" cy="423546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ED7843"/>
              </a:solidFill>
              <a:ln w="47625" cap="rnd">
                <a:solidFill>
                  <a:srgbClr val="000000"/>
                </a:solidFill>
                <a:prstDash val="solid"/>
                <a:round/>
              </a:ln>
            </p:spPr>
          </p:sp>
          <p:sp>
            <p:nvSpPr>
              <p:cNvPr name="TextBox 30" id="30"/>
              <p:cNvSpPr txBox="true"/>
              <p:nvPr/>
            </p:nvSpPr>
            <p:spPr>
              <a:xfrm>
                <a:off x="76200" y="0"/>
                <a:ext cx="660400" cy="736600"/>
              </a:xfrm>
              <a:prstGeom prst="rect">
                <a:avLst/>
              </a:prstGeom>
            </p:spPr>
            <p:txBody>
              <a:bodyPr anchor="ctr" rtlCol="false" tIns="50800" lIns="50800" bIns="50800" rIns="50800"/>
              <a:lstStyle/>
              <a:p>
                <a:pPr algn="ctr" marL="0" indent="0" lvl="0">
                  <a:lnSpc>
                    <a:spcPts val="3672"/>
                  </a:lnSpc>
                  <a:spcBef>
                    <a:spcPct val="0"/>
                  </a:spcBef>
                </a:pPr>
              </a:p>
            </p:txBody>
          </p:sp>
        </p:grpSp>
        <p:grpSp>
          <p:nvGrpSpPr>
            <p:cNvPr name="Group 31" id="31"/>
            <p:cNvGrpSpPr>
              <a:grpSpLocks noChangeAspect="true"/>
            </p:cNvGrpSpPr>
            <p:nvPr/>
          </p:nvGrpSpPr>
          <p:grpSpPr>
            <a:xfrm rot="0">
              <a:off x="51741" y="28757"/>
              <a:ext cx="4131988" cy="4131971"/>
              <a:chOff x="0" y="0"/>
              <a:chExt cx="6350000" cy="6349975"/>
            </a:xfrm>
          </p:grpSpPr>
          <p:sp>
            <p:nvSpPr>
              <p:cNvPr name="Freeform 32" id="32"/>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0" t="0" r="0" b="0"/>
                </a:stretch>
              </a:blipFill>
            </p:spPr>
          </p:sp>
        </p:grpSp>
        <p:sp>
          <p:nvSpPr>
            <p:cNvPr name="TextBox 33" id="33"/>
            <p:cNvSpPr txBox="true"/>
            <p:nvPr/>
          </p:nvSpPr>
          <p:spPr>
            <a:xfrm rot="0">
              <a:off x="977873" y="4664123"/>
              <a:ext cx="2383204" cy="411075"/>
            </a:xfrm>
            <a:prstGeom prst="rect">
              <a:avLst/>
            </a:prstGeom>
          </p:spPr>
          <p:txBody>
            <a:bodyPr anchor="t" rtlCol="false" tIns="0" lIns="0" bIns="0" rIns="0">
              <a:spAutoFit/>
            </a:bodyPr>
            <a:lstStyle/>
            <a:p>
              <a:pPr algn="ctr" marL="0" indent="0" lvl="0">
                <a:lnSpc>
                  <a:spcPts val="2471"/>
                </a:lnSpc>
                <a:spcBef>
                  <a:spcPct val="0"/>
                </a:spcBef>
              </a:pPr>
              <a:r>
                <a:rPr lang="en-US" sz="2059">
                  <a:solidFill>
                    <a:srgbClr val="000000"/>
                  </a:solidFill>
                  <a:latin typeface="Atkinson Hyperlegible Semi-Bold"/>
                </a:rPr>
                <a:t>Ryan</a:t>
              </a:r>
            </a:p>
          </p:txBody>
        </p:sp>
      </p:grpSp>
      <p:grpSp>
        <p:nvGrpSpPr>
          <p:cNvPr name="Group 34" id="34"/>
          <p:cNvGrpSpPr/>
          <p:nvPr/>
        </p:nvGrpSpPr>
        <p:grpSpPr>
          <a:xfrm rot="0">
            <a:off x="10133336" y="5981537"/>
            <a:ext cx="3176602" cy="3806399"/>
            <a:chOff x="0" y="0"/>
            <a:chExt cx="4235469" cy="5075199"/>
          </a:xfrm>
        </p:grpSpPr>
        <p:grpSp>
          <p:nvGrpSpPr>
            <p:cNvPr name="Group 35" id="35"/>
            <p:cNvGrpSpPr/>
            <p:nvPr/>
          </p:nvGrpSpPr>
          <p:grpSpPr>
            <a:xfrm rot="0">
              <a:off x="0" y="0"/>
              <a:ext cx="4235469" cy="4235469"/>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ED7843"/>
              </a:solidFill>
              <a:ln w="47625" cap="rnd">
                <a:solidFill>
                  <a:srgbClr val="000000"/>
                </a:solidFill>
                <a:prstDash val="solid"/>
                <a:round/>
              </a:ln>
            </p:spPr>
          </p:sp>
          <p:sp>
            <p:nvSpPr>
              <p:cNvPr name="TextBox 37" id="37"/>
              <p:cNvSpPr txBox="true"/>
              <p:nvPr/>
            </p:nvSpPr>
            <p:spPr>
              <a:xfrm>
                <a:off x="76200" y="0"/>
                <a:ext cx="660400" cy="736600"/>
              </a:xfrm>
              <a:prstGeom prst="rect">
                <a:avLst/>
              </a:prstGeom>
            </p:spPr>
            <p:txBody>
              <a:bodyPr anchor="ctr" rtlCol="false" tIns="50800" lIns="50800" bIns="50800" rIns="50800"/>
              <a:lstStyle/>
              <a:p>
                <a:pPr algn="ctr" marL="0" indent="0" lvl="0">
                  <a:lnSpc>
                    <a:spcPts val="3672"/>
                  </a:lnSpc>
                  <a:spcBef>
                    <a:spcPct val="0"/>
                  </a:spcBef>
                </a:pPr>
              </a:p>
            </p:txBody>
          </p:sp>
        </p:grpSp>
        <p:grpSp>
          <p:nvGrpSpPr>
            <p:cNvPr name="Group 38" id="38"/>
            <p:cNvGrpSpPr>
              <a:grpSpLocks noChangeAspect="true"/>
            </p:cNvGrpSpPr>
            <p:nvPr/>
          </p:nvGrpSpPr>
          <p:grpSpPr>
            <a:xfrm rot="0">
              <a:off x="51741" y="28757"/>
              <a:ext cx="4131988" cy="4131971"/>
              <a:chOff x="0" y="0"/>
              <a:chExt cx="6350000" cy="6349975"/>
            </a:xfrm>
          </p:grpSpPr>
          <p:sp>
            <p:nvSpPr>
              <p:cNvPr name="Freeform 39" id="39"/>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0" t="0" r="0" b="0"/>
                </a:stretch>
              </a:blipFill>
            </p:spPr>
          </p:sp>
        </p:grpSp>
        <p:sp>
          <p:nvSpPr>
            <p:cNvPr name="TextBox 40" id="40"/>
            <p:cNvSpPr txBox="true"/>
            <p:nvPr/>
          </p:nvSpPr>
          <p:spPr>
            <a:xfrm rot="0">
              <a:off x="977873" y="4664123"/>
              <a:ext cx="2383204" cy="411075"/>
            </a:xfrm>
            <a:prstGeom prst="rect">
              <a:avLst/>
            </a:prstGeom>
          </p:spPr>
          <p:txBody>
            <a:bodyPr anchor="t" rtlCol="false" tIns="0" lIns="0" bIns="0" rIns="0">
              <a:spAutoFit/>
            </a:bodyPr>
            <a:lstStyle/>
            <a:p>
              <a:pPr algn="ctr" marL="0" indent="0" lvl="0">
                <a:lnSpc>
                  <a:spcPts val="2471"/>
                </a:lnSpc>
                <a:spcBef>
                  <a:spcPct val="0"/>
                </a:spcBef>
              </a:pPr>
              <a:r>
                <a:rPr lang="en-US" sz="2059">
                  <a:solidFill>
                    <a:srgbClr val="000000"/>
                  </a:solidFill>
                  <a:latin typeface="Atkinson Hyperlegible Semi-Bold"/>
                </a:rPr>
                <a:t>Satriya</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TextBox 5" id="5"/>
          <p:cNvSpPr txBox="true"/>
          <p:nvPr/>
        </p:nvSpPr>
        <p:spPr>
          <a:xfrm rot="0">
            <a:off x="1374966" y="857250"/>
            <a:ext cx="15538068" cy="1386839"/>
          </a:xfrm>
          <a:prstGeom prst="rect">
            <a:avLst/>
          </a:prstGeom>
        </p:spPr>
        <p:txBody>
          <a:bodyPr anchor="t" rtlCol="false" tIns="0" lIns="0" bIns="0" rIns="0">
            <a:spAutoFit/>
          </a:bodyPr>
          <a:lstStyle/>
          <a:p>
            <a:pPr algn="ctr" marL="0" indent="0" lvl="0">
              <a:lnSpc>
                <a:spcPts val="11280"/>
              </a:lnSpc>
              <a:spcBef>
                <a:spcPct val="0"/>
              </a:spcBef>
            </a:pPr>
            <a:r>
              <a:rPr lang="en-US" sz="8000">
                <a:solidFill>
                  <a:srgbClr val="F7562B"/>
                </a:solidFill>
                <a:latin typeface="Mokoto"/>
              </a:rPr>
              <a:t>OVERVIEW</a:t>
            </a:r>
          </a:p>
        </p:txBody>
      </p:sp>
      <p:grpSp>
        <p:nvGrpSpPr>
          <p:cNvPr name="Group 6" id="6"/>
          <p:cNvGrpSpPr/>
          <p:nvPr/>
        </p:nvGrpSpPr>
        <p:grpSpPr>
          <a:xfrm rot="0">
            <a:off x="4071660" y="2807689"/>
            <a:ext cx="3008255" cy="5436181"/>
            <a:chOff x="0" y="0"/>
            <a:chExt cx="4011007" cy="7248241"/>
          </a:xfrm>
        </p:grpSpPr>
        <p:grpSp>
          <p:nvGrpSpPr>
            <p:cNvPr name="Group 7" id="7"/>
            <p:cNvGrpSpPr/>
            <p:nvPr/>
          </p:nvGrpSpPr>
          <p:grpSpPr>
            <a:xfrm rot="0">
              <a:off x="13540" y="703660"/>
              <a:ext cx="3725653" cy="4260482"/>
              <a:chOff x="0" y="0"/>
              <a:chExt cx="753229" cy="861357"/>
            </a:xfrm>
          </p:grpSpPr>
          <p:sp>
            <p:nvSpPr>
              <p:cNvPr name="Freeform 8" id="8"/>
              <p:cNvSpPr/>
              <p:nvPr/>
            </p:nvSpPr>
            <p:spPr>
              <a:xfrm flipH="false" flipV="false" rot="0">
                <a:off x="0" y="0"/>
                <a:ext cx="753229" cy="861357"/>
              </a:xfrm>
              <a:custGeom>
                <a:avLst/>
                <a:gdLst/>
                <a:ahLst/>
                <a:cxnLst/>
                <a:rect r="r" b="b" t="t" l="l"/>
                <a:pathLst>
                  <a:path h="861357" w="753229">
                    <a:moveTo>
                      <a:pt x="126956" y="0"/>
                    </a:moveTo>
                    <a:lnTo>
                      <a:pt x="626273" y="0"/>
                    </a:lnTo>
                    <a:cubicBezTo>
                      <a:pt x="659944" y="0"/>
                      <a:pt x="692236" y="13376"/>
                      <a:pt x="716045" y="37185"/>
                    </a:cubicBezTo>
                    <a:cubicBezTo>
                      <a:pt x="739853" y="60993"/>
                      <a:pt x="753229" y="93285"/>
                      <a:pt x="753229" y="126956"/>
                    </a:cubicBezTo>
                    <a:lnTo>
                      <a:pt x="753229" y="734401"/>
                    </a:lnTo>
                    <a:cubicBezTo>
                      <a:pt x="753229" y="768072"/>
                      <a:pt x="739853" y="800364"/>
                      <a:pt x="716045" y="824173"/>
                    </a:cubicBezTo>
                    <a:cubicBezTo>
                      <a:pt x="692236" y="847982"/>
                      <a:pt x="659944" y="861357"/>
                      <a:pt x="626273" y="861357"/>
                    </a:cubicBezTo>
                    <a:lnTo>
                      <a:pt x="126956" y="861357"/>
                    </a:lnTo>
                    <a:cubicBezTo>
                      <a:pt x="93285" y="861357"/>
                      <a:pt x="60993" y="847982"/>
                      <a:pt x="37185" y="824173"/>
                    </a:cubicBezTo>
                    <a:cubicBezTo>
                      <a:pt x="13376" y="800364"/>
                      <a:pt x="0" y="768072"/>
                      <a:pt x="0" y="734401"/>
                    </a:cubicBezTo>
                    <a:lnTo>
                      <a:pt x="0" y="126956"/>
                    </a:lnTo>
                    <a:cubicBezTo>
                      <a:pt x="0" y="93285"/>
                      <a:pt x="13376" y="60993"/>
                      <a:pt x="37185" y="37185"/>
                    </a:cubicBezTo>
                    <a:cubicBezTo>
                      <a:pt x="60993" y="13376"/>
                      <a:pt x="93285" y="0"/>
                      <a:pt x="126956" y="0"/>
                    </a:cubicBezTo>
                    <a:close/>
                  </a:path>
                </a:pathLst>
              </a:custGeom>
              <a:solidFill>
                <a:srgbClr val="E9E8E8"/>
              </a:solidFill>
              <a:ln w="47625" cap="rnd">
                <a:solidFill>
                  <a:srgbClr val="000000"/>
                </a:solidFill>
                <a:prstDash val="solid"/>
                <a:round/>
              </a:ln>
            </p:spPr>
          </p:sp>
          <p:sp>
            <p:nvSpPr>
              <p:cNvPr name="TextBox 9" id="9"/>
              <p:cNvSpPr txBox="true"/>
              <p:nvPr/>
            </p:nvSpPr>
            <p:spPr>
              <a:xfrm>
                <a:off x="0" y="-76200"/>
                <a:ext cx="753229" cy="937557"/>
              </a:xfrm>
              <a:prstGeom prst="rect">
                <a:avLst/>
              </a:prstGeom>
            </p:spPr>
            <p:txBody>
              <a:bodyPr anchor="ctr" rtlCol="false" tIns="50800" lIns="50800" bIns="50800" rIns="50800"/>
              <a:lstStyle/>
              <a:p>
                <a:pPr algn="ctr" marL="0" indent="0" lvl="0">
                  <a:lnSpc>
                    <a:spcPts val="3672"/>
                  </a:lnSpc>
                  <a:spcBef>
                    <a:spcPct val="0"/>
                  </a:spcBef>
                </a:pPr>
              </a:p>
            </p:txBody>
          </p:sp>
        </p:grpSp>
        <p:sp>
          <p:nvSpPr>
            <p:cNvPr name="Freeform 10" id="10"/>
            <p:cNvSpPr/>
            <p:nvPr/>
          </p:nvSpPr>
          <p:spPr>
            <a:xfrm flipH="false" flipV="false" rot="0">
              <a:off x="649898" y="2056995"/>
              <a:ext cx="2711211" cy="2107967"/>
            </a:xfrm>
            <a:custGeom>
              <a:avLst/>
              <a:gdLst/>
              <a:ahLst/>
              <a:cxnLst/>
              <a:rect r="r" b="b" t="t" l="l"/>
              <a:pathLst>
                <a:path h="2107967" w="2711211">
                  <a:moveTo>
                    <a:pt x="0" y="0"/>
                  </a:moveTo>
                  <a:lnTo>
                    <a:pt x="2711211" y="0"/>
                  </a:lnTo>
                  <a:lnTo>
                    <a:pt x="2711211" y="2107967"/>
                  </a:lnTo>
                  <a:lnTo>
                    <a:pt x="0" y="21079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179561" y="-104775"/>
              <a:ext cx="1393612" cy="910721"/>
            </a:xfrm>
            <a:prstGeom prst="rect">
              <a:avLst/>
            </a:prstGeom>
          </p:spPr>
          <p:txBody>
            <a:bodyPr anchor="t" rtlCol="false" tIns="0" lIns="0" bIns="0" rIns="0">
              <a:spAutoFit/>
            </a:bodyPr>
            <a:lstStyle/>
            <a:p>
              <a:pPr algn="r" marL="0" indent="0" lvl="0">
                <a:lnSpc>
                  <a:spcPts val="5609"/>
                </a:lnSpc>
                <a:spcBef>
                  <a:spcPct val="0"/>
                </a:spcBef>
              </a:pPr>
              <a:r>
                <a:rPr lang="en-US" sz="3978">
                  <a:solidFill>
                    <a:srgbClr val="EF82EB"/>
                  </a:solidFill>
                  <a:latin typeface="Mokoto"/>
                </a:rPr>
                <a:t>02</a:t>
              </a:r>
            </a:p>
          </p:txBody>
        </p:sp>
        <p:sp>
          <p:nvSpPr>
            <p:cNvPr name="TextBox 12" id="12"/>
            <p:cNvSpPr txBox="true"/>
            <p:nvPr/>
          </p:nvSpPr>
          <p:spPr>
            <a:xfrm rot="0">
              <a:off x="170015" y="5540319"/>
              <a:ext cx="3670977" cy="533677"/>
            </a:xfrm>
            <a:prstGeom prst="rect">
              <a:avLst/>
            </a:prstGeom>
          </p:spPr>
          <p:txBody>
            <a:bodyPr anchor="t" rtlCol="false" tIns="0" lIns="0" bIns="0" rIns="0">
              <a:spAutoFit/>
            </a:bodyPr>
            <a:lstStyle/>
            <a:p>
              <a:pPr algn="ctr" marL="0" indent="0" lvl="0">
                <a:lnSpc>
                  <a:spcPts val="3270"/>
                </a:lnSpc>
                <a:spcBef>
                  <a:spcPct val="0"/>
                </a:spcBef>
              </a:pPr>
              <a:r>
                <a:rPr lang="en-US" sz="2515">
                  <a:solidFill>
                    <a:srgbClr val="000000"/>
                  </a:solidFill>
                  <a:latin typeface="Atkinson Hyperlegible Bold"/>
                </a:rPr>
                <a:t>Dataset</a:t>
              </a:r>
            </a:p>
          </p:txBody>
        </p:sp>
        <p:sp>
          <p:nvSpPr>
            <p:cNvPr name="TextBox 13" id="13"/>
            <p:cNvSpPr txBox="true"/>
            <p:nvPr/>
          </p:nvSpPr>
          <p:spPr>
            <a:xfrm rot="0">
              <a:off x="0" y="6338048"/>
              <a:ext cx="4011007" cy="910194"/>
            </a:xfrm>
            <a:prstGeom prst="rect">
              <a:avLst/>
            </a:prstGeom>
          </p:spPr>
          <p:txBody>
            <a:bodyPr anchor="t" rtlCol="false" tIns="0" lIns="0" bIns="0" rIns="0">
              <a:spAutoFit/>
            </a:bodyPr>
            <a:lstStyle/>
            <a:p>
              <a:pPr algn="ctr" marL="0" indent="0" lvl="0">
                <a:lnSpc>
                  <a:spcPts val="2886"/>
                </a:lnSpc>
              </a:pPr>
              <a:r>
                <a:rPr lang="en-US" sz="1886">
                  <a:solidFill>
                    <a:srgbClr val="000000"/>
                  </a:solidFill>
                  <a:latin typeface="Atkinson Hyperlegible"/>
                </a:rPr>
                <a:t>Dataset yang digunakan juga penjelasannya</a:t>
              </a:r>
            </a:p>
          </p:txBody>
        </p:sp>
      </p:grpSp>
      <p:grpSp>
        <p:nvGrpSpPr>
          <p:cNvPr name="Group 14" id="14"/>
          <p:cNvGrpSpPr/>
          <p:nvPr/>
        </p:nvGrpSpPr>
        <p:grpSpPr>
          <a:xfrm rot="0">
            <a:off x="548355" y="2807689"/>
            <a:ext cx="3008255" cy="5436181"/>
            <a:chOff x="0" y="0"/>
            <a:chExt cx="4011007" cy="7248241"/>
          </a:xfrm>
        </p:grpSpPr>
        <p:grpSp>
          <p:nvGrpSpPr>
            <p:cNvPr name="Group 15" id="15"/>
            <p:cNvGrpSpPr/>
            <p:nvPr/>
          </p:nvGrpSpPr>
          <p:grpSpPr>
            <a:xfrm rot="0">
              <a:off x="142677" y="703660"/>
              <a:ext cx="3725653" cy="4260482"/>
              <a:chOff x="0" y="0"/>
              <a:chExt cx="753229" cy="861357"/>
            </a:xfrm>
          </p:grpSpPr>
          <p:sp>
            <p:nvSpPr>
              <p:cNvPr name="Freeform 16" id="16"/>
              <p:cNvSpPr/>
              <p:nvPr/>
            </p:nvSpPr>
            <p:spPr>
              <a:xfrm flipH="false" flipV="false" rot="0">
                <a:off x="0" y="0"/>
                <a:ext cx="753229" cy="861357"/>
              </a:xfrm>
              <a:custGeom>
                <a:avLst/>
                <a:gdLst/>
                <a:ahLst/>
                <a:cxnLst/>
                <a:rect r="r" b="b" t="t" l="l"/>
                <a:pathLst>
                  <a:path h="861357" w="753229">
                    <a:moveTo>
                      <a:pt x="126956" y="0"/>
                    </a:moveTo>
                    <a:lnTo>
                      <a:pt x="626273" y="0"/>
                    </a:lnTo>
                    <a:cubicBezTo>
                      <a:pt x="659944" y="0"/>
                      <a:pt x="692236" y="13376"/>
                      <a:pt x="716045" y="37185"/>
                    </a:cubicBezTo>
                    <a:cubicBezTo>
                      <a:pt x="739853" y="60993"/>
                      <a:pt x="753229" y="93285"/>
                      <a:pt x="753229" y="126956"/>
                    </a:cubicBezTo>
                    <a:lnTo>
                      <a:pt x="753229" y="734401"/>
                    </a:lnTo>
                    <a:cubicBezTo>
                      <a:pt x="753229" y="768072"/>
                      <a:pt x="739853" y="800364"/>
                      <a:pt x="716045" y="824173"/>
                    </a:cubicBezTo>
                    <a:cubicBezTo>
                      <a:pt x="692236" y="847982"/>
                      <a:pt x="659944" y="861357"/>
                      <a:pt x="626273" y="861357"/>
                    </a:cubicBezTo>
                    <a:lnTo>
                      <a:pt x="126956" y="861357"/>
                    </a:lnTo>
                    <a:cubicBezTo>
                      <a:pt x="93285" y="861357"/>
                      <a:pt x="60993" y="847982"/>
                      <a:pt x="37185" y="824173"/>
                    </a:cubicBezTo>
                    <a:cubicBezTo>
                      <a:pt x="13376" y="800364"/>
                      <a:pt x="0" y="768072"/>
                      <a:pt x="0" y="734401"/>
                    </a:cubicBezTo>
                    <a:lnTo>
                      <a:pt x="0" y="126956"/>
                    </a:lnTo>
                    <a:cubicBezTo>
                      <a:pt x="0" y="93285"/>
                      <a:pt x="13376" y="60993"/>
                      <a:pt x="37185" y="37185"/>
                    </a:cubicBezTo>
                    <a:cubicBezTo>
                      <a:pt x="60993" y="13376"/>
                      <a:pt x="93285" y="0"/>
                      <a:pt x="126956" y="0"/>
                    </a:cubicBezTo>
                    <a:close/>
                  </a:path>
                </a:pathLst>
              </a:custGeom>
              <a:solidFill>
                <a:srgbClr val="E9E8E8"/>
              </a:solidFill>
              <a:ln w="47625" cap="rnd">
                <a:solidFill>
                  <a:srgbClr val="000000"/>
                </a:solidFill>
                <a:prstDash val="solid"/>
                <a:round/>
              </a:ln>
            </p:spPr>
          </p:sp>
          <p:sp>
            <p:nvSpPr>
              <p:cNvPr name="TextBox 17" id="17"/>
              <p:cNvSpPr txBox="true"/>
              <p:nvPr/>
            </p:nvSpPr>
            <p:spPr>
              <a:xfrm>
                <a:off x="0" y="-76200"/>
                <a:ext cx="753229" cy="937557"/>
              </a:xfrm>
              <a:prstGeom prst="rect">
                <a:avLst/>
              </a:prstGeom>
            </p:spPr>
            <p:txBody>
              <a:bodyPr anchor="ctr" rtlCol="false" tIns="50800" lIns="50800" bIns="50800" rIns="50800"/>
              <a:lstStyle/>
              <a:p>
                <a:pPr algn="ctr" marL="0" indent="0" lvl="0">
                  <a:lnSpc>
                    <a:spcPts val="3672"/>
                  </a:lnSpc>
                  <a:spcBef>
                    <a:spcPct val="0"/>
                  </a:spcBef>
                </a:pPr>
              </a:p>
            </p:txBody>
          </p:sp>
        </p:grpSp>
        <p:sp>
          <p:nvSpPr>
            <p:cNvPr name="Freeform 18" id="18"/>
            <p:cNvSpPr/>
            <p:nvPr/>
          </p:nvSpPr>
          <p:spPr>
            <a:xfrm flipH="false" flipV="false" rot="0">
              <a:off x="1059155" y="2187450"/>
              <a:ext cx="1892698" cy="1892698"/>
            </a:xfrm>
            <a:custGeom>
              <a:avLst/>
              <a:gdLst/>
              <a:ahLst/>
              <a:cxnLst/>
              <a:rect r="r" b="b" t="t" l="l"/>
              <a:pathLst>
                <a:path h="1892698" w="1892698">
                  <a:moveTo>
                    <a:pt x="0" y="0"/>
                  </a:moveTo>
                  <a:lnTo>
                    <a:pt x="1892698" y="0"/>
                  </a:lnTo>
                  <a:lnTo>
                    <a:pt x="1892698" y="1892698"/>
                  </a:lnTo>
                  <a:lnTo>
                    <a:pt x="0" y="1892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303003" y="-104775"/>
              <a:ext cx="1405001" cy="910358"/>
            </a:xfrm>
            <a:prstGeom prst="rect">
              <a:avLst/>
            </a:prstGeom>
          </p:spPr>
          <p:txBody>
            <a:bodyPr anchor="t" rtlCol="false" tIns="0" lIns="0" bIns="0" rIns="0">
              <a:spAutoFit/>
            </a:bodyPr>
            <a:lstStyle/>
            <a:p>
              <a:pPr algn="ctr" marL="0" indent="0" lvl="0">
                <a:lnSpc>
                  <a:spcPts val="5609"/>
                </a:lnSpc>
                <a:spcBef>
                  <a:spcPct val="0"/>
                </a:spcBef>
              </a:pPr>
              <a:r>
                <a:rPr lang="en-US" sz="3978">
                  <a:solidFill>
                    <a:srgbClr val="FEC801"/>
                  </a:solidFill>
                  <a:latin typeface="Mokoto"/>
                </a:rPr>
                <a:t>01</a:t>
              </a:r>
            </a:p>
          </p:txBody>
        </p:sp>
        <p:sp>
          <p:nvSpPr>
            <p:cNvPr name="TextBox 20" id="20"/>
            <p:cNvSpPr txBox="true"/>
            <p:nvPr/>
          </p:nvSpPr>
          <p:spPr>
            <a:xfrm rot="0">
              <a:off x="170015" y="5540319"/>
              <a:ext cx="3670977" cy="533677"/>
            </a:xfrm>
            <a:prstGeom prst="rect">
              <a:avLst/>
            </a:prstGeom>
          </p:spPr>
          <p:txBody>
            <a:bodyPr anchor="t" rtlCol="false" tIns="0" lIns="0" bIns="0" rIns="0">
              <a:spAutoFit/>
            </a:bodyPr>
            <a:lstStyle/>
            <a:p>
              <a:pPr algn="ctr" marL="0" indent="0" lvl="0">
                <a:lnSpc>
                  <a:spcPts val="3270"/>
                </a:lnSpc>
                <a:spcBef>
                  <a:spcPct val="0"/>
                </a:spcBef>
              </a:pPr>
              <a:r>
                <a:rPr lang="en-US" sz="2515">
                  <a:solidFill>
                    <a:srgbClr val="000000"/>
                  </a:solidFill>
                  <a:latin typeface="Atkinson Hyperlegible Bold"/>
                </a:rPr>
                <a:t>Latar Belakang</a:t>
              </a:r>
            </a:p>
          </p:txBody>
        </p:sp>
        <p:sp>
          <p:nvSpPr>
            <p:cNvPr name="TextBox 21" id="21"/>
            <p:cNvSpPr txBox="true"/>
            <p:nvPr/>
          </p:nvSpPr>
          <p:spPr>
            <a:xfrm rot="0">
              <a:off x="0" y="6338048"/>
              <a:ext cx="4011007" cy="910194"/>
            </a:xfrm>
            <a:prstGeom prst="rect">
              <a:avLst/>
            </a:prstGeom>
          </p:spPr>
          <p:txBody>
            <a:bodyPr anchor="t" rtlCol="false" tIns="0" lIns="0" bIns="0" rIns="0">
              <a:spAutoFit/>
            </a:bodyPr>
            <a:lstStyle/>
            <a:p>
              <a:pPr algn="ctr" marL="0" indent="0" lvl="0">
                <a:lnSpc>
                  <a:spcPts val="2886"/>
                </a:lnSpc>
              </a:pPr>
              <a:r>
                <a:rPr lang="en-US" sz="1886">
                  <a:solidFill>
                    <a:srgbClr val="000000"/>
                  </a:solidFill>
                  <a:latin typeface="Atkinson Hyperlegible"/>
                </a:rPr>
                <a:t>Rumusan masalah dan tujuan penelitian</a:t>
              </a:r>
            </a:p>
          </p:txBody>
        </p:sp>
      </p:grpSp>
      <p:grpSp>
        <p:nvGrpSpPr>
          <p:cNvPr name="Group 22" id="22"/>
          <p:cNvGrpSpPr/>
          <p:nvPr/>
        </p:nvGrpSpPr>
        <p:grpSpPr>
          <a:xfrm rot="0">
            <a:off x="7594964" y="2807689"/>
            <a:ext cx="3023813" cy="5103008"/>
            <a:chOff x="0" y="0"/>
            <a:chExt cx="4031751" cy="6804011"/>
          </a:xfrm>
        </p:grpSpPr>
        <p:grpSp>
          <p:nvGrpSpPr>
            <p:cNvPr name="Group 23" id="23"/>
            <p:cNvGrpSpPr/>
            <p:nvPr/>
          </p:nvGrpSpPr>
          <p:grpSpPr>
            <a:xfrm rot="0">
              <a:off x="143415" y="707299"/>
              <a:ext cx="3744921" cy="4282516"/>
              <a:chOff x="0" y="0"/>
              <a:chExt cx="753229" cy="861357"/>
            </a:xfrm>
          </p:grpSpPr>
          <p:sp>
            <p:nvSpPr>
              <p:cNvPr name="Freeform 24" id="24"/>
              <p:cNvSpPr/>
              <p:nvPr/>
            </p:nvSpPr>
            <p:spPr>
              <a:xfrm flipH="false" flipV="false" rot="0">
                <a:off x="0" y="0"/>
                <a:ext cx="753229" cy="861357"/>
              </a:xfrm>
              <a:custGeom>
                <a:avLst/>
                <a:gdLst/>
                <a:ahLst/>
                <a:cxnLst/>
                <a:rect r="r" b="b" t="t" l="l"/>
                <a:pathLst>
                  <a:path h="861357" w="753229">
                    <a:moveTo>
                      <a:pt x="126956" y="0"/>
                    </a:moveTo>
                    <a:lnTo>
                      <a:pt x="626273" y="0"/>
                    </a:lnTo>
                    <a:cubicBezTo>
                      <a:pt x="659944" y="0"/>
                      <a:pt x="692236" y="13376"/>
                      <a:pt x="716045" y="37185"/>
                    </a:cubicBezTo>
                    <a:cubicBezTo>
                      <a:pt x="739853" y="60993"/>
                      <a:pt x="753229" y="93285"/>
                      <a:pt x="753229" y="126956"/>
                    </a:cubicBezTo>
                    <a:lnTo>
                      <a:pt x="753229" y="734401"/>
                    </a:lnTo>
                    <a:cubicBezTo>
                      <a:pt x="753229" y="768072"/>
                      <a:pt x="739853" y="800364"/>
                      <a:pt x="716045" y="824173"/>
                    </a:cubicBezTo>
                    <a:cubicBezTo>
                      <a:pt x="692236" y="847982"/>
                      <a:pt x="659944" y="861357"/>
                      <a:pt x="626273" y="861357"/>
                    </a:cubicBezTo>
                    <a:lnTo>
                      <a:pt x="126956" y="861357"/>
                    </a:lnTo>
                    <a:cubicBezTo>
                      <a:pt x="93285" y="861357"/>
                      <a:pt x="60993" y="847982"/>
                      <a:pt x="37185" y="824173"/>
                    </a:cubicBezTo>
                    <a:cubicBezTo>
                      <a:pt x="13376" y="800364"/>
                      <a:pt x="0" y="768072"/>
                      <a:pt x="0" y="734401"/>
                    </a:cubicBezTo>
                    <a:lnTo>
                      <a:pt x="0" y="126956"/>
                    </a:lnTo>
                    <a:cubicBezTo>
                      <a:pt x="0" y="93285"/>
                      <a:pt x="13376" y="60993"/>
                      <a:pt x="37185" y="37185"/>
                    </a:cubicBezTo>
                    <a:cubicBezTo>
                      <a:pt x="60993" y="13376"/>
                      <a:pt x="93285" y="0"/>
                      <a:pt x="126956" y="0"/>
                    </a:cubicBezTo>
                    <a:close/>
                  </a:path>
                </a:pathLst>
              </a:custGeom>
              <a:solidFill>
                <a:srgbClr val="E9E8E8"/>
              </a:solidFill>
              <a:ln w="47625" cap="rnd">
                <a:solidFill>
                  <a:srgbClr val="000000"/>
                </a:solidFill>
                <a:prstDash val="solid"/>
                <a:round/>
              </a:ln>
            </p:spPr>
          </p:sp>
          <p:sp>
            <p:nvSpPr>
              <p:cNvPr name="TextBox 25" id="25"/>
              <p:cNvSpPr txBox="true"/>
              <p:nvPr/>
            </p:nvSpPr>
            <p:spPr>
              <a:xfrm>
                <a:off x="0" y="-76200"/>
                <a:ext cx="753229" cy="937557"/>
              </a:xfrm>
              <a:prstGeom prst="rect">
                <a:avLst/>
              </a:prstGeom>
            </p:spPr>
            <p:txBody>
              <a:bodyPr anchor="ctr" rtlCol="false" tIns="50800" lIns="50800" bIns="50800" rIns="50800"/>
              <a:lstStyle/>
              <a:p>
                <a:pPr algn="ctr" marL="0" indent="0" lvl="0">
                  <a:lnSpc>
                    <a:spcPts val="3672"/>
                  </a:lnSpc>
                  <a:spcBef>
                    <a:spcPct val="0"/>
                  </a:spcBef>
                </a:pPr>
              </a:p>
            </p:txBody>
          </p:sp>
        </p:grpSp>
        <p:sp>
          <p:nvSpPr>
            <p:cNvPr name="Freeform 26" id="26"/>
            <p:cNvSpPr/>
            <p:nvPr/>
          </p:nvSpPr>
          <p:spPr>
            <a:xfrm flipH="false" flipV="false" rot="0">
              <a:off x="1163670" y="2090572"/>
              <a:ext cx="2118869" cy="2118869"/>
            </a:xfrm>
            <a:custGeom>
              <a:avLst/>
              <a:gdLst/>
              <a:ahLst/>
              <a:cxnLst/>
              <a:rect r="r" b="b" t="t" l="l"/>
              <a:pathLst>
                <a:path h="2118869" w="2118869">
                  <a:moveTo>
                    <a:pt x="0" y="0"/>
                  </a:moveTo>
                  <a:lnTo>
                    <a:pt x="2118868" y="0"/>
                  </a:lnTo>
                  <a:lnTo>
                    <a:pt x="2118868" y="2118869"/>
                  </a:lnTo>
                  <a:lnTo>
                    <a:pt x="0" y="21188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309742" y="-95250"/>
              <a:ext cx="1412268" cy="905364"/>
            </a:xfrm>
            <a:prstGeom prst="rect">
              <a:avLst/>
            </a:prstGeom>
          </p:spPr>
          <p:txBody>
            <a:bodyPr anchor="t" rtlCol="false" tIns="0" lIns="0" bIns="0" rIns="0">
              <a:spAutoFit/>
            </a:bodyPr>
            <a:lstStyle/>
            <a:p>
              <a:pPr algn="r" marL="0" indent="0" lvl="0">
                <a:lnSpc>
                  <a:spcPts val="5639"/>
                </a:lnSpc>
                <a:spcBef>
                  <a:spcPct val="0"/>
                </a:spcBef>
              </a:pPr>
              <a:r>
                <a:rPr lang="en-US" sz="3999">
                  <a:solidFill>
                    <a:srgbClr val="02B676"/>
                  </a:solidFill>
                  <a:latin typeface="Mokoto"/>
                </a:rPr>
                <a:t>03</a:t>
              </a:r>
            </a:p>
          </p:txBody>
        </p:sp>
        <p:sp>
          <p:nvSpPr>
            <p:cNvPr name="TextBox 28" id="28"/>
            <p:cNvSpPr txBox="true"/>
            <p:nvPr/>
          </p:nvSpPr>
          <p:spPr>
            <a:xfrm rot="0">
              <a:off x="170894" y="5578645"/>
              <a:ext cx="3689962" cy="526764"/>
            </a:xfrm>
            <a:prstGeom prst="rect">
              <a:avLst/>
            </a:prstGeom>
          </p:spPr>
          <p:txBody>
            <a:bodyPr anchor="t" rtlCol="false" tIns="0" lIns="0" bIns="0" rIns="0">
              <a:spAutoFit/>
            </a:bodyPr>
            <a:lstStyle/>
            <a:p>
              <a:pPr algn="ctr" marL="0" indent="0" lvl="0">
                <a:lnSpc>
                  <a:spcPts val="3287"/>
                </a:lnSpc>
                <a:spcBef>
                  <a:spcPct val="0"/>
                </a:spcBef>
              </a:pPr>
              <a:r>
                <a:rPr lang="en-US" sz="2528">
                  <a:solidFill>
                    <a:srgbClr val="000000"/>
                  </a:solidFill>
                  <a:latin typeface="Atkinson Hyperlegible Bold"/>
                </a:rPr>
                <a:t>Metodologi</a:t>
              </a:r>
            </a:p>
          </p:txBody>
        </p:sp>
        <p:sp>
          <p:nvSpPr>
            <p:cNvPr name="TextBox 29" id="29"/>
            <p:cNvSpPr txBox="true"/>
            <p:nvPr/>
          </p:nvSpPr>
          <p:spPr>
            <a:xfrm rot="0">
              <a:off x="0" y="6371122"/>
              <a:ext cx="4031751" cy="432889"/>
            </a:xfrm>
            <a:prstGeom prst="rect">
              <a:avLst/>
            </a:prstGeom>
          </p:spPr>
          <p:txBody>
            <a:bodyPr anchor="t" rtlCol="false" tIns="0" lIns="0" bIns="0" rIns="0">
              <a:spAutoFit/>
            </a:bodyPr>
            <a:lstStyle/>
            <a:p>
              <a:pPr algn="ctr" marL="0" indent="0" lvl="0">
                <a:lnSpc>
                  <a:spcPts val="2901"/>
                </a:lnSpc>
              </a:pPr>
              <a:r>
                <a:rPr lang="en-US" sz="1896">
                  <a:solidFill>
                    <a:srgbClr val="000000"/>
                  </a:solidFill>
                  <a:latin typeface="Atkinson Hyperlegible"/>
                </a:rPr>
                <a:t>Alur pengerjaan</a:t>
              </a:r>
            </a:p>
          </p:txBody>
        </p:sp>
      </p:grpSp>
      <p:grpSp>
        <p:nvGrpSpPr>
          <p:cNvPr name="Group 30" id="30"/>
          <p:cNvGrpSpPr/>
          <p:nvPr/>
        </p:nvGrpSpPr>
        <p:grpSpPr>
          <a:xfrm rot="0">
            <a:off x="11294562" y="2807689"/>
            <a:ext cx="3082514" cy="6450611"/>
            <a:chOff x="0" y="0"/>
            <a:chExt cx="4110018" cy="8600815"/>
          </a:xfrm>
        </p:grpSpPr>
        <p:grpSp>
          <p:nvGrpSpPr>
            <p:cNvPr name="Group 31" id="31"/>
            <p:cNvGrpSpPr/>
            <p:nvPr/>
          </p:nvGrpSpPr>
          <p:grpSpPr>
            <a:xfrm rot="0">
              <a:off x="146199" y="721030"/>
              <a:ext cx="3817620" cy="4365651"/>
              <a:chOff x="0" y="0"/>
              <a:chExt cx="753229" cy="861357"/>
            </a:xfrm>
          </p:grpSpPr>
          <p:sp>
            <p:nvSpPr>
              <p:cNvPr name="Freeform 32" id="32"/>
              <p:cNvSpPr/>
              <p:nvPr/>
            </p:nvSpPr>
            <p:spPr>
              <a:xfrm flipH="false" flipV="false" rot="0">
                <a:off x="0" y="0"/>
                <a:ext cx="753229" cy="861357"/>
              </a:xfrm>
              <a:custGeom>
                <a:avLst/>
                <a:gdLst/>
                <a:ahLst/>
                <a:cxnLst/>
                <a:rect r="r" b="b" t="t" l="l"/>
                <a:pathLst>
                  <a:path h="861357" w="753229">
                    <a:moveTo>
                      <a:pt x="137900" y="0"/>
                    </a:moveTo>
                    <a:lnTo>
                      <a:pt x="615329" y="0"/>
                    </a:lnTo>
                    <a:cubicBezTo>
                      <a:pt x="691489" y="0"/>
                      <a:pt x="753229" y="61740"/>
                      <a:pt x="753229" y="137900"/>
                    </a:cubicBezTo>
                    <a:lnTo>
                      <a:pt x="753229" y="723457"/>
                    </a:lnTo>
                    <a:cubicBezTo>
                      <a:pt x="753229" y="799617"/>
                      <a:pt x="691489" y="861357"/>
                      <a:pt x="615329" y="861357"/>
                    </a:cubicBezTo>
                    <a:lnTo>
                      <a:pt x="137900" y="861357"/>
                    </a:lnTo>
                    <a:cubicBezTo>
                      <a:pt x="101327" y="861357"/>
                      <a:pt x="66251" y="846829"/>
                      <a:pt x="40390" y="820967"/>
                    </a:cubicBezTo>
                    <a:cubicBezTo>
                      <a:pt x="14529" y="795106"/>
                      <a:pt x="0" y="760031"/>
                      <a:pt x="0" y="723457"/>
                    </a:cubicBezTo>
                    <a:lnTo>
                      <a:pt x="0" y="137900"/>
                    </a:lnTo>
                    <a:cubicBezTo>
                      <a:pt x="0" y="61740"/>
                      <a:pt x="61740" y="0"/>
                      <a:pt x="137900" y="0"/>
                    </a:cubicBezTo>
                    <a:close/>
                  </a:path>
                </a:pathLst>
              </a:custGeom>
              <a:solidFill>
                <a:srgbClr val="E9E8E8"/>
              </a:solidFill>
              <a:ln w="47625" cap="rnd">
                <a:solidFill>
                  <a:srgbClr val="000000"/>
                </a:solidFill>
                <a:prstDash val="solid"/>
                <a:round/>
              </a:ln>
            </p:spPr>
          </p:sp>
          <p:sp>
            <p:nvSpPr>
              <p:cNvPr name="TextBox 33" id="33"/>
              <p:cNvSpPr txBox="true"/>
              <p:nvPr/>
            </p:nvSpPr>
            <p:spPr>
              <a:xfrm>
                <a:off x="0" y="-76200"/>
                <a:ext cx="753229" cy="937557"/>
              </a:xfrm>
              <a:prstGeom prst="rect">
                <a:avLst/>
              </a:prstGeom>
            </p:spPr>
            <p:txBody>
              <a:bodyPr anchor="ctr" rtlCol="false" tIns="46768" lIns="46768" bIns="46768" rIns="46768"/>
              <a:lstStyle/>
              <a:p>
                <a:pPr algn="ctr" marL="0" indent="0" lvl="0">
                  <a:lnSpc>
                    <a:spcPts val="3672"/>
                  </a:lnSpc>
                  <a:spcBef>
                    <a:spcPct val="0"/>
                  </a:spcBef>
                </a:pPr>
              </a:p>
            </p:txBody>
          </p:sp>
        </p:grpSp>
        <p:sp>
          <p:nvSpPr>
            <p:cNvPr name="Freeform 34" id="34"/>
            <p:cNvSpPr/>
            <p:nvPr/>
          </p:nvSpPr>
          <p:spPr>
            <a:xfrm flipH="false" flipV="false" rot="0">
              <a:off x="942068" y="2241447"/>
              <a:ext cx="2225882" cy="2225882"/>
            </a:xfrm>
            <a:custGeom>
              <a:avLst/>
              <a:gdLst/>
              <a:ahLst/>
              <a:cxnLst/>
              <a:rect r="r" b="b" t="t" l="l"/>
              <a:pathLst>
                <a:path h="2225882" w="2225882">
                  <a:moveTo>
                    <a:pt x="0" y="0"/>
                  </a:moveTo>
                  <a:lnTo>
                    <a:pt x="2225882" y="0"/>
                  </a:lnTo>
                  <a:lnTo>
                    <a:pt x="2225882" y="2225881"/>
                  </a:lnTo>
                  <a:lnTo>
                    <a:pt x="0" y="2225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1335167" y="-85725"/>
              <a:ext cx="1439684" cy="911565"/>
            </a:xfrm>
            <a:prstGeom prst="rect">
              <a:avLst/>
            </a:prstGeom>
          </p:spPr>
          <p:txBody>
            <a:bodyPr anchor="t" rtlCol="false" tIns="0" lIns="0" bIns="0" rIns="0">
              <a:spAutoFit/>
            </a:bodyPr>
            <a:lstStyle/>
            <a:p>
              <a:pPr algn="r" marL="0" indent="0" lvl="0">
                <a:lnSpc>
                  <a:spcPts val="5748"/>
                </a:lnSpc>
                <a:spcBef>
                  <a:spcPct val="0"/>
                </a:spcBef>
              </a:pPr>
              <a:r>
                <a:rPr lang="en-US" sz="4076">
                  <a:solidFill>
                    <a:srgbClr val="F7562B"/>
                  </a:solidFill>
                  <a:latin typeface="Mokoto"/>
                </a:rPr>
                <a:t>04</a:t>
              </a:r>
            </a:p>
          </p:txBody>
        </p:sp>
        <p:sp>
          <p:nvSpPr>
            <p:cNvPr name="TextBox 36" id="36"/>
            <p:cNvSpPr txBox="true"/>
            <p:nvPr/>
          </p:nvSpPr>
          <p:spPr>
            <a:xfrm rot="0">
              <a:off x="174212" y="5677786"/>
              <a:ext cx="3761594" cy="1107365"/>
            </a:xfrm>
            <a:prstGeom prst="rect">
              <a:avLst/>
            </a:prstGeom>
          </p:spPr>
          <p:txBody>
            <a:bodyPr anchor="t" rtlCol="false" tIns="0" lIns="0" bIns="0" rIns="0">
              <a:spAutoFit/>
            </a:bodyPr>
            <a:lstStyle/>
            <a:p>
              <a:pPr algn="ctr" marL="0" indent="0" lvl="0">
                <a:lnSpc>
                  <a:spcPts val="3351"/>
                </a:lnSpc>
                <a:spcBef>
                  <a:spcPct val="0"/>
                </a:spcBef>
              </a:pPr>
              <a:r>
                <a:rPr lang="en-US" sz="2577">
                  <a:solidFill>
                    <a:srgbClr val="000000"/>
                  </a:solidFill>
                  <a:latin typeface="Atkinson Hyperlegible Bold"/>
                </a:rPr>
                <a:t>Hasil dan Pembahasan</a:t>
              </a:r>
            </a:p>
          </p:txBody>
        </p:sp>
        <p:sp>
          <p:nvSpPr>
            <p:cNvPr name="TextBox 37" id="37"/>
            <p:cNvSpPr txBox="true"/>
            <p:nvPr/>
          </p:nvSpPr>
          <p:spPr>
            <a:xfrm rot="0">
              <a:off x="0" y="7178496"/>
              <a:ext cx="4110018" cy="1422319"/>
            </a:xfrm>
            <a:prstGeom prst="rect">
              <a:avLst/>
            </a:prstGeom>
          </p:spPr>
          <p:txBody>
            <a:bodyPr anchor="t" rtlCol="false" tIns="0" lIns="0" bIns="0" rIns="0">
              <a:spAutoFit/>
            </a:bodyPr>
            <a:lstStyle/>
            <a:p>
              <a:pPr algn="ctr" marL="0" indent="0" lvl="0">
                <a:lnSpc>
                  <a:spcPts val="2958"/>
                </a:lnSpc>
              </a:pPr>
              <a:r>
                <a:rPr lang="en-US" sz="1933">
                  <a:solidFill>
                    <a:srgbClr val="000000"/>
                  </a:solidFill>
                  <a:latin typeface="Atkinson Hyperlegible"/>
                </a:rPr>
                <a:t>Dataset yang sudah bersih, business insights dan hasil machine larning</a:t>
              </a:r>
            </a:p>
          </p:txBody>
        </p:sp>
      </p:grpSp>
      <p:grpSp>
        <p:nvGrpSpPr>
          <p:cNvPr name="Group 38" id="38"/>
          <p:cNvGrpSpPr/>
          <p:nvPr/>
        </p:nvGrpSpPr>
        <p:grpSpPr>
          <a:xfrm rot="0">
            <a:off x="14731389" y="2807689"/>
            <a:ext cx="3008255" cy="5795609"/>
            <a:chOff x="0" y="0"/>
            <a:chExt cx="4011007" cy="7727479"/>
          </a:xfrm>
        </p:grpSpPr>
        <p:grpSp>
          <p:nvGrpSpPr>
            <p:cNvPr name="Group 39" id="39"/>
            <p:cNvGrpSpPr/>
            <p:nvPr/>
          </p:nvGrpSpPr>
          <p:grpSpPr>
            <a:xfrm rot="0">
              <a:off x="142677" y="703660"/>
              <a:ext cx="3725653" cy="4260482"/>
              <a:chOff x="0" y="0"/>
              <a:chExt cx="753229" cy="861357"/>
            </a:xfrm>
          </p:grpSpPr>
          <p:sp>
            <p:nvSpPr>
              <p:cNvPr name="Freeform 40" id="40"/>
              <p:cNvSpPr/>
              <p:nvPr/>
            </p:nvSpPr>
            <p:spPr>
              <a:xfrm flipH="false" flipV="false" rot="0">
                <a:off x="0" y="0"/>
                <a:ext cx="753229" cy="861357"/>
              </a:xfrm>
              <a:custGeom>
                <a:avLst/>
                <a:gdLst/>
                <a:ahLst/>
                <a:cxnLst/>
                <a:rect r="r" b="b" t="t" l="l"/>
                <a:pathLst>
                  <a:path h="861357" w="753229">
                    <a:moveTo>
                      <a:pt x="126956" y="0"/>
                    </a:moveTo>
                    <a:lnTo>
                      <a:pt x="626273" y="0"/>
                    </a:lnTo>
                    <a:cubicBezTo>
                      <a:pt x="659944" y="0"/>
                      <a:pt x="692236" y="13376"/>
                      <a:pt x="716045" y="37185"/>
                    </a:cubicBezTo>
                    <a:cubicBezTo>
                      <a:pt x="739853" y="60993"/>
                      <a:pt x="753229" y="93285"/>
                      <a:pt x="753229" y="126956"/>
                    </a:cubicBezTo>
                    <a:lnTo>
                      <a:pt x="753229" y="734401"/>
                    </a:lnTo>
                    <a:cubicBezTo>
                      <a:pt x="753229" y="768072"/>
                      <a:pt x="739853" y="800364"/>
                      <a:pt x="716045" y="824173"/>
                    </a:cubicBezTo>
                    <a:cubicBezTo>
                      <a:pt x="692236" y="847982"/>
                      <a:pt x="659944" y="861357"/>
                      <a:pt x="626273" y="861357"/>
                    </a:cubicBezTo>
                    <a:lnTo>
                      <a:pt x="126956" y="861357"/>
                    </a:lnTo>
                    <a:cubicBezTo>
                      <a:pt x="93285" y="861357"/>
                      <a:pt x="60993" y="847982"/>
                      <a:pt x="37185" y="824173"/>
                    </a:cubicBezTo>
                    <a:cubicBezTo>
                      <a:pt x="13376" y="800364"/>
                      <a:pt x="0" y="768072"/>
                      <a:pt x="0" y="734401"/>
                    </a:cubicBezTo>
                    <a:lnTo>
                      <a:pt x="0" y="126956"/>
                    </a:lnTo>
                    <a:cubicBezTo>
                      <a:pt x="0" y="93285"/>
                      <a:pt x="13376" y="60993"/>
                      <a:pt x="37185" y="37185"/>
                    </a:cubicBezTo>
                    <a:cubicBezTo>
                      <a:pt x="60993" y="13376"/>
                      <a:pt x="93285" y="0"/>
                      <a:pt x="126956" y="0"/>
                    </a:cubicBezTo>
                    <a:close/>
                  </a:path>
                </a:pathLst>
              </a:custGeom>
              <a:solidFill>
                <a:srgbClr val="E9E8E8"/>
              </a:solidFill>
              <a:ln w="47625" cap="rnd">
                <a:solidFill>
                  <a:srgbClr val="000000"/>
                </a:solidFill>
                <a:prstDash val="solid"/>
                <a:round/>
              </a:ln>
            </p:spPr>
          </p:sp>
          <p:sp>
            <p:nvSpPr>
              <p:cNvPr name="TextBox 41" id="41"/>
              <p:cNvSpPr txBox="true"/>
              <p:nvPr/>
            </p:nvSpPr>
            <p:spPr>
              <a:xfrm>
                <a:off x="0" y="-76200"/>
                <a:ext cx="753229" cy="937557"/>
              </a:xfrm>
              <a:prstGeom prst="rect">
                <a:avLst/>
              </a:prstGeom>
            </p:spPr>
            <p:txBody>
              <a:bodyPr anchor="ctr" rtlCol="false" tIns="50800" lIns="50800" bIns="50800" rIns="50800"/>
              <a:lstStyle/>
              <a:p>
                <a:pPr algn="ctr" marL="0" indent="0" lvl="0">
                  <a:lnSpc>
                    <a:spcPts val="3672"/>
                  </a:lnSpc>
                  <a:spcBef>
                    <a:spcPct val="0"/>
                  </a:spcBef>
                </a:pPr>
              </a:p>
            </p:txBody>
          </p:sp>
        </p:grpSp>
        <p:sp>
          <p:nvSpPr>
            <p:cNvPr name="Freeform 42" id="42"/>
            <p:cNvSpPr/>
            <p:nvPr/>
          </p:nvSpPr>
          <p:spPr>
            <a:xfrm flipH="false" flipV="false" rot="0">
              <a:off x="1059155" y="2187450"/>
              <a:ext cx="1892698" cy="1892698"/>
            </a:xfrm>
            <a:custGeom>
              <a:avLst/>
              <a:gdLst/>
              <a:ahLst/>
              <a:cxnLst/>
              <a:rect r="r" b="b" t="t" l="l"/>
              <a:pathLst>
                <a:path h="1892698" w="1892698">
                  <a:moveTo>
                    <a:pt x="0" y="0"/>
                  </a:moveTo>
                  <a:lnTo>
                    <a:pt x="1892698" y="0"/>
                  </a:lnTo>
                  <a:lnTo>
                    <a:pt x="1892698" y="1892698"/>
                  </a:lnTo>
                  <a:lnTo>
                    <a:pt x="0" y="1892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3" id="43"/>
            <p:cNvSpPr txBox="true"/>
            <p:nvPr/>
          </p:nvSpPr>
          <p:spPr>
            <a:xfrm rot="0">
              <a:off x="1303003" y="-104775"/>
              <a:ext cx="1405001" cy="903092"/>
            </a:xfrm>
            <a:prstGeom prst="rect">
              <a:avLst/>
            </a:prstGeom>
          </p:spPr>
          <p:txBody>
            <a:bodyPr anchor="t" rtlCol="false" tIns="0" lIns="0" bIns="0" rIns="0">
              <a:spAutoFit/>
            </a:bodyPr>
            <a:lstStyle/>
            <a:p>
              <a:pPr algn="ctr" marL="0" indent="0" lvl="0">
                <a:lnSpc>
                  <a:spcPts val="5609"/>
                </a:lnSpc>
                <a:spcBef>
                  <a:spcPct val="0"/>
                </a:spcBef>
              </a:pPr>
              <a:r>
                <a:rPr lang="en-US" sz="3978">
                  <a:solidFill>
                    <a:srgbClr val="5CE1E6"/>
                  </a:solidFill>
                  <a:latin typeface="Mokoto"/>
                </a:rPr>
                <a:t>05</a:t>
              </a:r>
            </a:p>
          </p:txBody>
        </p:sp>
        <p:sp>
          <p:nvSpPr>
            <p:cNvPr name="TextBox 44" id="44"/>
            <p:cNvSpPr txBox="true"/>
            <p:nvPr/>
          </p:nvSpPr>
          <p:spPr>
            <a:xfrm rot="0">
              <a:off x="170015" y="5540319"/>
              <a:ext cx="3670977" cy="533677"/>
            </a:xfrm>
            <a:prstGeom prst="rect">
              <a:avLst/>
            </a:prstGeom>
          </p:spPr>
          <p:txBody>
            <a:bodyPr anchor="t" rtlCol="false" tIns="0" lIns="0" bIns="0" rIns="0">
              <a:spAutoFit/>
            </a:bodyPr>
            <a:lstStyle/>
            <a:p>
              <a:pPr algn="ctr" marL="0" indent="0" lvl="0">
                <a:lnSpc>
                  <a:spcPts val="3270"/>
                </a:lnSpc>
                <a:spcBef>
                  <a:spcPct val="0"/>
                </a:spcBef>
              </a:pPr>
              <a:r>
                <a:rPr lang="en-US" sz="2515">
                  <a:solidFill>
                    <a:srgbClr val="000000"/>
                  </a:solidFill>
                  <a:latin typeface="Atkinson Hyperlegible Bold"/>
                </a:rPr>
                <a:t>Kesimpulan</a:t>
              </a:r>
            </a:p>
          </p:txBody>
        </p:sp>
        <p:sp>
          <p:nvSpPr>
            <p:cNvPr name="TextBox 45" id="45"/>
            <p:cNvSpPr txBox="true"/>
            <p:nvPr/>
          </p:nvSpPr>
          <p:spPr>
            <a:xfrm rot="0">
              <a:off x="0" y="6338048"/>
              <a:ext cx="4011007" cy="1389432"/>
            </a:xfrm>
            <a:prstGeom prst="rect">
              <a:avLst/>
            </a:prstGeom>
          </p:spPr>
          <p:txBody>
            <a:bodyPr anchor="t" rtlCol="false" tIns="0" lIns="0" bIns="0" rIns="0">
              <a:spAutoFit/>
            </a:bodyPr>
            <a:lstStyle/>
            <a:p>
              <a:pPr algn="ctr" marL="0" indent="0" lvl="0">
                <a:lnSpc>
                  <a:spcPts val="2886"/>
                </a:lnSpc>
              </a:pPr>
              <a:r>
                <a:rPr lang="en-US" sz="1886">
                  <a:solidFill>
                    <a:srgbClr val="000000"/>
                  </a:solidFill>
                  <a:latin typeface="Atkinson Hyperlegible"/>
                </a:rPr>
                <a:t>Kesimpulan dari informasi yang didapatkan untuk menjawab tujuan</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TextBox 5" id="5"/>
          <p:cNvSpPr txBox="true"/>
          <p:nvPr/>
        </p:nvSpPr>
        <p:spPr>
          <a:xfrm rot="0">
            <a:off x="484789" y="866775"/>
            <a:ext cx="17318421" cy="1386841"/>
          </a:xfrm>
          <a:prstGeom prst="rect">
            <a:avLst/>
          </a:prstGeom>
        </p:spPr>
        <p:txBody>
          <a:bodyPr anchor="t" rtlCol="false" tIns="0" lIns="0" bIns="0" rIns="0">
            <a:spAutoFit/>
          </a:bodyPr>
          <a:lstStyle/>
          <a:p>
            <a:pPr algn="ctr" marL="0" indent="0" lvl="0">
              <a:lnSpc>
                <a:spcPts val="11279"/>
              </a:lnSpc>
              <a:spcBef>
                <a:spcPct val="0"/>
              </a:spcBef>
            </a:pPr>
            <a:r>
              <a:rPr lang="en-US" sz="7999">
                <a:solidFill>
                  <a:srgbClr val="FEC801"/>
                </a:solidFill>
                <a:latin typeface="Mokoto"/>
              </a:rPr>
              <a:t>Latar belakang</a:t>
            </a:r>
          </a:p>
        </p:txBody>
      </p:sp>
      <p:sp>
        <p:nvSpPr>
          <p:cNvPr name="TextBox 6" id="6"/>
          <p:cNvSpPr txBox="true"/>
          <p:nvPr/>
        </p:nvSpPr>
        <p:spPr>
          <a:xfrm rot="0">
            <a:off x="633043" y="2880237"/>
            <a:ext cx="10456924" cy="7078980"/>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000000"/>
                </a:solidFill>
                <a:latin typeface="Atkinson Hyperlegible Bold"/>
              </a:rPr>
              <a:t>Rumusan masalah: </a:t>
            </a:r>
          </a:p>
          <a:p>
            <a:pPr algn="l" marL="993138" indent="-331046" lvl="2">
              <a:lnSpc>
                <a:spcPts val="3219"/>
              </a:lnSpc>
              <a:buFont typeface="Arial"/>
              <a:buChar char="⚬"/>
            </a:pPr>
            <a:r>
              <a:rPr lang="en-US" sz="2299">
                <a:solidFill>
                  <a:srgbClr val="000000"/>
                </a:solidFill>
                <a:latin typeface="Atkinson Hyperlegible"/>
              </a:rPr>
              <a:t>Data bisnis dari beberapa cabang Rumah Sakit dapat digunakan oleh pihak manajemen untuk menentukan indeks prestasi dari setiap cabang rumah sakit, melakukan evaluasi, dan meningkatkan tingkat kepuasan pasien di setiap cabang rumah sakit. </a:t>
            </a:r>
          </a:p>
          <a:p>
            <a:pPr algn="l">
              <a:lnSpc>
                <a:spcPts val="3919"/>
              </a:lnSpc>
            </a:pPr>
          </a:p>
          <a:p>
            <a:pPr algn="l" marL="604518" indent="-302259" lvl="1">
              <a:lnSpc>
                <a:spcPts val="3919"/>
              </a:lnSpc>
              <a:buFont typeface="Arial"/>
              <a:buChar char="•"/>
            </a:pPr>
            <a:r>
              <a:rPr lang="en-US" sz="2799">
                <a:solidFill>
                  <a:srgbClr val="000000"/>
                </a:solidFill>
                <a:latin typeface="Atkinson Hyperlegible Bold"/>
              </a:rPr>
              <a:t>Tujuan penelitian</a:t>
            </a:r>
            <a:r>
              <a:rPr lang="en-US" sz="2799">
                <a:solidFill>
                  <a:srgbClr val="000000"/>
                </a:solidFill>
                <a:latin typeface="Atkinson Hyperlegible Bold"/>
              </a:rPr>
              <a:t>:</a:t>
            </a:r>
            <a:r>
              <a:rPr lang="en-US" sz="2799">
                <a:solidFill>
                  <a:srgbClr val="000000"/>
                </a:solidFill>
                <a:latin typeface="Atkinson Hyperlegible"/>
              </a:rPr>
              <a:t> </a:t>
            </a:r>
          </a:p>
          <a:p>
            <a:pPr algn="l" marL="993138" indent="-331046" lvl="2">
              <a:lnSpc>
                <a:spcPts val="3219"/>
              </a:lnSpc>
              <a:buFont typeface="Arial"/>
              <a:buChar char="⚬"/>
            </a:pPr>
            <a:r>
              <a:rPr lang="en-US" sz="2299">
                <a:solidFill>
                  <a:srgbClr val="000000"/>
                </a:solidFill>
                <a:latin typeface="Atkinson Hyperlegible"/>
              </a:rPr>
              <a:t>Menentukan cabang Rumah Sakit Mulia yang memiliki index performance di atas atau di bawah rata-rata 70 %. </a:t>
            </a:r>
          </a:p>
          <a:p>
            <a:pPr algn="l" marL="993138" indent="-331046" lvl="2">
              <a:lnSpc>
                <a:spcPts val="3219"/>
              </a:lnSpc>
              <a:buFont typeface="Arial"/>
              <a:buChar char="⚬"/>
            </a:pPr>
            <a:r>
              <a:rPr lang="en-US" sz="2299">
                <a:solidFill>
                  <a:srgbClr val="000000"/>
                </a:solidFill>
                <a:latin typeface="Atkinson Hyperlegible"/>
              </a:rPr>
              <a:t>Memberikan insight untuk cabang Rumah Sakit Mulia sesuai dengan index performancenya. </a:t>
            </a:r>
          </a:p>
          <a:p>
            <a:pPr algn="l" marL="993138" indent="-331046" lvl="2">
              <a:lnSpc>
                <a:spcPts val="3219"/>
              </a:lnSpc>
              <a:buFont typeface="Arial"/>
              <a:buChar char="⚬"/>
            </a:pPr>
            <a:r>
              <a:rPr lang="en-US" sz="2299">
                <a:solidFill>
                  <a:srgbClr val="000000"/>
                </a:solidFill>
                <a:latin typeface="Atkinson Hyperlegible"/>
              </a:rPr>
              <a:t>Visualisasi hasil nilai per cabang Rumah Sakit Mulia. </a:t>
            </a:r>
          </a:p>
          <a:p>
            <a:pPr algn="l" marL="993138" indent="-331046" lvl="2">
              <a:lnSpc>
                <a:spcPts val="3219"/>
              </a:lnSpc>
              <a:buFont typeface="Arial"/>
              <a:buChar char="⚬"/>
            </a:pPr>
            <a:r>
              <a:rPr lang="en-US" sz="2299">
                <a:solidFill>
                  <a:srgbClr val="000000"/>
                </a:solidFill>
                <a:latin typeface="Atkinson Hyperlegible"/>
              </a:rPr>
              <a:t>Visualisasi insight untuk setiap cabang Rumah Sakit Mulia. </a:t>
            </a:r>
          </a:p>
          <a:p>
            <a:pPr algn="l" marL="993138" indent="-331046" lvl="2">
              <a:lnSpc>
                <a:spcPts val="3219"/>
              </a:lnSpc>
              <a:buFont typeface="Arial"/>
              <a:buChar char="⚬"/>
            </a:pPr>
            <a:r>
              <a:rPr lang="en-US" sz="2299">
                <a:solidFill>
                  <a:srgbClr val="000000"/>
                </a:solidFill>
                <a:latin typeface="Atkinson Hyperlegible"/>
              </a:rPr>
              <a:t>Membuat machine learning untuk prediksi dari score index performance di masa yang akan datang. </a:t>
            </a:r>
          </a:p>
          <a:p>
            <a:pPr algn="l">
              <a:lnSpc>
                <a:spcPts val="3219"/>
              </a:lnSpc>
            </a:pPr>
          </a:p>
          <a:p>
            <a:pPr algn="l">
              <a:lnSpc>
                <a:spcPts val="32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Freeform 5" id="5"/>
          <p:cNvSpPr/>
          <p:nvPr/>
        </p:nvSpPr>
        <p:spPr>
          <a:xfrm flipH="false" flipV="false" rot="0">
            <a:off x="930674" y="3736219"/>
            <a:ext cx="16407602" cy="5913593"/>
          </a:xfrm>
          <a:custGeom>
            <a:avLst/>
            <a:gdLst/>
            <a:ahLst/>
            <a:cxnLst/>
            <a:rect r="r" b="b" t="t" l="l"/>
            <a:pathLst>
              <a:path h="5913593" w="16407602">
                <a:moveTo>
                  <a:pt x="0" y="0"/>
                </a:moveTo>
                <a:lnTo>
                  <a:pt x="16407602" y="0"/>
                </a:lnTo>
                <a:lnTo>
                  <a:pt x="16407602" y="5913593"/>
                </a:lnTo>
                <a:lnTo>
                  <a:pt x="0" y="5913593"/>
                </a:lnTo>
                <a:lnTo>
                  <a:pt x="0" y="0"/>
                </a:lnTo>
                <a:close/>
              </a:path>
            </a:pathLst>
          </a:custGeom>
          <a:blipFill>
            <a:blip r:embed="rId2"/>
            <a:stretch>
              <a:fillRect l="0" t="0" r="0" b="0"/>
            </a:stretch>
          </a:blipFill>
        </p:spPr>
      </p:sp>
      <p:sp>
        <p:nvSpPr>
          <p:cNvPr name="TextBox 6" id="6"/>
          <p:cNvSpPr txBox="true"/>
          <p:nvPr/>
        </p:nvSpPr>
        <p:spPr>
          <a:xfrm rot="0">
            <a:off x="1528532" y="828675"/>
            <a:ext cx="15230936" cy="1386839"/>
          </a:xfrm>
          <a:prstGeom prst="rect">
            <a:avLst/>
          </a:prstGeom>
        </p:spPr>
        <p:txBody>
          <a:bodyPr anchor="t" rtlCol="false" tIns="0" lIns="0" bIns="0" rIns="0">
            <a:spAutoFit/>
          </a:bodyPr>
          <a:lstStyle/>
          <a:p>
            <a:pPr algn="ctr" marL="0" indent="0" lvl="0">
              <a:lnSpc>
                <a:spcPts val="11280"/>
              </a:lnSpc>
              <a:spcBef>
                <a:spcPct val="0"/>
              </a:spcBef>
            </a:pPr>
            <a:r>
              <a:rPr lang="en-US" sz="8000">
                <a:solidFill>
                  <a:srgbClr val="F7562B"/>
                </a:solidFill>
                <a:latin typeface="Mokoto"/>
              </a:rPr>
              <a:t>DATASET</a:t>
            </a:r>
          </a:p>
        </p:txBody>
      </p:sp>
      <p:sp>
        <p:nvSpPr>
          <p:cNvPr name="TextBox 7" id="7"/>
          <p:cNvSpPr txBox="true"/>
          <p:nvPr/>
        </p:nvSpPr>
        <p:spPr>
          <a:xfrm rot="0">
            <a:off x="930674" y="2542418"/>
            <a:ext cx="16407602" cy="850900"/>
          </a:xfrm>
          <a:prstGeom prst="rect">
            <a:avLst/>
          </a:prstGeom>
        </p:spPr>
        <p:txBody>
          <a:bodyPr anchor="t" rtlCol="false" tIns="0" lIns="0" bIns="0" rIns="0">
            <a:spAutoFit/>
          </a:bodyPr>
          <a:lstStyle/>
          <a:p>
            <a:pPr algn="l">
              <a:lnSpc>
                <a:spcPts val="3499"/>
              </a:lnSpc>
            </a:pPr>
            <a:r>
              <a:rPr lang="en-US" sz="2499">
                <a:solidFill>
                  <a:srgbClr val="000000"/>
                </a:solidFill>
                <a:latin typeface="Atkinson Hyperlegible"/>
              </a:rPr>
              <a:t>Dataset yang digunakan ialah </a:t>
            </a:r>
            <a:r>
              <a:rPr lang="en-US" sz="2499" u="sng">
                <a:solidFill>
                  <a:srgbClr val="000000"/>
                </a:solidFill>
                <a:latin typeface="Atkinson Hyperlegible"/>
                <a:hlinkClick r:id="rId3" tooltip="https://github.com/Bithealth-x-Hacktiv8/final-project-team2-group-2/blob/main/Hospital_data.csv"/>
              </a:rPr>
              <a:t>Hospital_data.csv</a:t>
            </a:r>
            <a:r>
              <a:rPr lang="en-US" sz="2499">
                <a:solidFill>
                  <a:srgbClr val="000000"/>
                </a:solidFill>
                <a:latin typeface="Atkinson Hyperlegible"/>
              </a:rPr>
              <a:t>. Dataset ini berisi tentang historical data pasien rumah sakit dengan periode 2020 – 2024, terdiri dari 9473 transaksi.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sp>
        <p:nvSpPr>
          <p:cNvPr name="Freeform 2" id="2"/>
          <p:cNvSpPr/>
          <p:nvPr/>
        </p:nvSpPr>
        <p:spPr>
          <a:xfrm flipH="false" flipV="false" rot="0">
            <a:off x="-715334" y="-4715834"/>
            <a:ext cx="19718669" cy="19718669"/>
          </a:xfrm>
          <a:custGeom>
            <a:avLst/>
            <a:gdLst/>
            <a:ahLst/>
            <a:cxnLst/>
            <a:rect r="r" b="b" t="t" l="l"/>
            <a:pathLst>
              <a:path h="19718669" w="19718669">
                <a:moveTo>
                  <a:pt x="0" y="0"/>
                </a:moveTo>
                <a:lnTo>
                  <a:pt x="19718668" y="0"/>
                </a:lnTo>
                <a:lnTo>
                  <a:pt x="19718668" y="19718668"/>
                </a:lnTo>
                <a:lnTo>
                  <a:pt x="0" y="19718668"/>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444129" y="579174"/>
            <a:ext cx="11399742" cy="11057750"/>
          </a:xfrm>
          <a:custGeom>
            <a:avLst/>
            <a:gdLst/>
            <a:ahLst/>
            <a:cxnLst/>
            <a:rect r="r" b="b" t="t" l="l"/>
            <a:pathLst>
              <a:path h="11057750" w="11399742">
                <a:moveTo>
                  <a:pt x="0" y="0"/>
                </a:moveTo>
                <a:lnTo>
                  <a:pt x="11399742" y="0"/>
                </a:lnTo>
                <a:lnTo>
                  <a:pt x="11399742" y="11057750"/>
                </a:lnTo>
                <a:lnTo>
                  <a:pt x="0" y="1105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1100850">
            <a:off x="4739113" y="2195031"/>
            <a:ext cx="2164889" cy="2164889"/>
          </a:xfrm>
          <a:custGeom>
            <a:avLst/>
            <a:gdLst/>
            <a:ahLst/>
            <a:cxnLst/>
            <a:rect r="r" b="b" t="t" l="l"/>
            <a:pathLst>
              <a:path h="2164889" w="2164889">
                <a:moveTo>
                  <a:pt x="0" y="0"/>
                </a:moveTo>
                <a:lnTo>
                  <a:pt x="2164889" y="0"/>
                </a:lnTo>
                <a:lnTo>
                  <a:pt x="2164889" y="2164889"/>
                </a:lnTo>
                <a:lnTo>
                  <a:pt x="0" y="2164889"/>
                </a:lnTo>
                <a:lnTo>
                  <a:pt x="0" y="0"/>
                </a:lnTo>
                <a:close/>
              </a:path>
            </a:pathLst>
          </a:custGeom>
          <a:blipFill>
            <a:blip r:embed="rId7"/>
            <a:stretch>
              <a:fillRect l="0" t="0" r="0" b="0"/>
            </a:stretch>
          </a:blipFill>
        </p:spPr>
      </p:sp>
      <p:sp>
        <p:nvSpPr>
          <p:cNvPr name="TextBox 5" id="5"/>
          <p:cNvSpPr txBox="true"/>
          <p:nvPr/>
        </p:nvSpPr>
        <p:spPr>
          <a:xfrm rot="0">
            <a:off x="6046626" y="3144126"/>
            <a:ext cx="8068406" cy="1122045"/>
          </a:xfrm>
          <a:prstGeom prst="rect">
            <a:avLst/>
          </a:prstGeom>
        </p:spPr>
        <p:txBody>
          <a:bodyPr anchor="t" rtlCol="false" tIns="0" lIns="0" bIns="0" rIns="0">
            <a:spAutoFit/>
          </a:bodyPr>
          <a:lstStyle/>
          <a:p>
            <a:pPr algn="ctr" marL="0" indent="0" lvl="0">
              <a:lnSpc>
                <a:spcPts val="9164"/>
              </a:lnSpc>
              <a:spcBef>
                <a:spcPct val="0"/>
              </a:spcBef>
            </a:pPr>
            <a:r>
              <a:rPr lang="en-US" sz="6499" spc="-474">
                <a:solidFill>
                  <a:srgbClr val="FEC801"/>
                </a:solidFill>
                <a:latin typeface="Mokoto"/>
              </a:rPr>
              <a:t>METODOLOGI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Freeform 5" id="5"/>
          <p:cNvSpPr/>
          <p:nvPr/>
        </p:nvSpPr>
        <p:spPr>
          <a:xfrm flipH="false" flipV="false" rot="0">
            <a:off x="624264" y="583769"/>
            <a:ext cx="17046221" cy="9197185"/>
          </a:xfrm>
          <a:custGeom>
            <a:avLst/>
            <a:gdLst/>
            <a:ahLst/>
            <a:cxnLst/>
            <a:rect r="r" b="b" t="t" l="l"/>
            <a:pathLst>
              <a:path h="9197185" w="17046221">
                <a:moveTo>
                  <a:pt x="0" y="0"/>
                </a:moveTo>
                <a:lnTo>
                  <a:pt x="17046221" y="0"/>
                </a:lnTo>
                <a:lnTo>
                  <a:pt x="17046221" y="9197185"/>
                </a:lnTo>
                <a:lnTo>
                  <a:pt x="0" y="9197185"/>
                </a:lnTo>
                <a:lnTo>
                  <a:pt x="0" y="0"/>
                </a:lnTo>
                <a:close/>
              </a:path>
            </a:pathLst>
          </a:custGeom>
          <a:blipFill>
            <a:blip r:embed="rId2"/>
            <a:stretch>
              <a:fillRect l="0" t="0" r="0" b="0"/>
            </a:stretch>
          </a:blipFill>
        </p:spPr>
      </p:sp>
      <p:sp>
        <p:nvSpPr>
          <p:cNvPr name="TextBox 6" id="6"/>
          <p:cNvSpPr txBox="true"/>
          <p:nvPr/>
        </p:nvSpPr>
        <p:spPr>
          <a:xfrm rot="0">
            <a:off x="1528532" y="517094"/>
            <a:ext cx="15230936" cy="1247013"/>
          </a:xfrm>
          <a:prstGeom prst="rect">
            <a:avLst/>
          </a:prstGeom>
        </p:spPr>
        <p:txBody>
          <a:bodyPr anchor="t" rtlCol="false" tIns="0" lIns="0" bIns="0" rIns="0">
            <a:spAutoFit/>
          </a:bodyPr>
          <a:lstStyle/>
          <a:p>
            <a:pPr algn="ctr">
              <a:lnSpc>
                <a:spcPts val="5076"/>
              </a:lnSpc>
            </a:pPr>
            <a:r>
              <a:rPr lang="en-US" sz="3600">
                <a:solidFill>
                  <a:srgbClr val="02B676"/>
                </a:solidFill>
                <a:latin typeface="Mokoto"/>
              </a:rPr>
              <a:t>Diagram</a:t>
            </a:r>
          </a:p>
          <a:p>
            <a:pPr algn="ctr" marL="0" indent="0" lvl="0">
              <a:lnSpc>
                <a:spcPts val="5076"/>
              </a:lnSpc>
              <a:spcBef>
                <a:spcPct val="0"/>
              </a:spcBef>
            </a:pPr>
            <a:r>
              <a:rPr lang="en-US" sz="3600">
                <a:solidFill>
                  <a:srgbClr val="02B676"/>
                </a:solidFill>
                <a:latin typeface="Mokoto"/>
              </a:rPr>
              <a:t> alir pengerjaan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Freeform 5" id="5"/>
          <p:cNvSpPr/>
          <p:nvPr/>
        </p:nvSpPr>
        <p:spPr>
          <a:xfrm flipH="false" flipV="false" rot="0">
            <a:off x="7706120" y="1599993"/>
            <a:ext cx="9948852" cy="8007409"/>
          </a:xfrm>
          <a:custGeom>
            <a:avLst/>
            <a:gdLst/>
            <a:ahLst/>
            <a:cxnLst/>
            <a:rect r="r" b="b" t="t" l="l"/>
            <a:pathLst>
              <a:path h="8007409" w="9948852">
                <a:moveTo>
                  <a:pt x="0" y="0"/>
                </a:moveTo>
                <a:lnTo>
                  <a:pt x="9948851" y="0"/>
                </a:lnTo>
                <a:lnTo>
                  <a:pt x="9948851" y="8007409"/>
                </a:lnTo>
                <a:lnTo>
                  <a:pt x="0" y="8007409"/>
                </a:lnTo>
                <a:lnTo>
                  <a:pt x="0" y="0"/>
                </a:lnTo>
                <a:close/>
              </a:path>
            </a:pathLst>
          </a:custGeom>
          <a:blipFill>
            <a:blip r:embed="rId2"/>
            <a:stretch>
              <a:fillRect l="0" t="0" r="0" b="0"/>
            </a:stretch>
          </a:blipFill>
        </p:spPr>
      </p:sp>
      <p:sp>
        <p:nvSpPr>
          <p:cNvPr name="Freeform 6" id="6"/>
          <p:cNvSpPr/>
          <p:nvPr/>
        </p:nvSpPr>
        <p:spPr>
          <a:xfrm flipH="false" flipV="false" rot="0">
            <a:off x="844786" y="1452189"/>
            <a:ext cx="3449106" cy="8303016"/>
          </a:xfrm>
          <a:custGeom>
            <a:avLst/>
            <a:gdLst/>
            <a:ahLst/>
            <a:cxnLst/>
            <a:rect r="r" b="b" t="t" l="l"/>
            <a:pathLst>
              <a:path h="8303016" w="3449106">
                <a:moveTo>
                  <a:pt x="0" y="0"/>
                </a:moveTo>
                <a:lnTo>
                  <a:pt x="3449106" y="0"/>
                </a:lnTo>
                <a:lnTo>
                  <a:pt x="3449106" y="8303016"/>
                </a:lnTo>
                <a:lnTo>
                  <a:pt x="0" y="8303016"/>
                </a:lnTo>
                <a:lnTo>
                  <a:pt x="0" y="0"/>
                </a:lnTo>
                <a:close/>
              </a:path>
            </a:pathLst>
          </a:custGeom>
          <a:blipFill>
            <a:blip r:embed="rId3"/>
            <a:stretch>
              <a:fillRect l="0" t="0" r="0" b="0"/>
            </a:stretch>
          </a:blipFill>
        </p:spPr>
      </p:sp>
      <p:sp>
        <p:nvSpPr>
          <p:cNvPr name="Freeform 7" id="7"/>
          <p:cNvSpPr/>
          <p:nvPr/>
        </p:nvSpPr>
        <p:spPr>
          <a:xfrm flipH="false" flipV="false" rot="0">
            <a:off x="4570117" y="5455894"/>
            <a:ext cx="2859777" cy="852734"/>
          </a:xfrm>
          <a:custGeom>
            <a:avLst/>
            <a:gdLst/>
            <a:ahLst/>
            <a:cxnLst/>
            <a:rect r="r" b="b" t="t" l="l"/>
            <a:pathLst>
              <a:path h="852734" w="2859777">
                <a:moveTo>
                  <a:pt x="0" y="0"/>
                </a:moveTo>
                <a:lnTo>
                  <a:pt x="2859778" y="0"/>
                </a:lnTo>
                <a:lnTo>
                  <a:pt x="2859778" y="852733"/>
                </a:lnTo>
                <a:lnTo>
                  <a:pt x="0" y="8527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289530" y="4140691"/>
            <a:ext cx="1420952" cy="1578835"/>
          </a:xfrm>
          <a:custGeom>
            <a:avLst/>
            <a:gdLst/>
            <a:ahLst/>
            <a:cxnLst/>
            <a:rect r="r" b="b" t="t" l="l"/>
            <a:pathLst>
              <a:path h="1578835" w="1420952">
                <a:moveTo>
                  <a:pt x="0" y="0"/>
                </a:moveTo>
                <a:lnTo>
                  <a:pt x="1420952" y="0"/>
                </a:lnTo>
                <a:lnTo>
                  <a:pt x="1420952" y="1578835"/>
                </a:lnTo>
                <a:lnTo>
                  <a:pt x="0" y="1578835"/>
                </a:lnTo>
                <a:lnTo>
                  <a:pt x="0" y="0"/>
                </a:lnTo>
                <a:close/>
              </a:path>
            </a:pathLst>
          </a:custGeom>
          <a:blipFill>
            <a:blip r:embed="rId6"/>
            <a:stretch>
              <a:fillRect l="0" t="0" r="0" b="0"/>
            </a:stretch>
          </a:blipFill>
        </p:spPr>
      </p:sp>
      <p:sp>
        <p:nvSpPr>
          <p:cNvPr name="TextBox 9" id="9"/>
          <p:cNvSpPr txBox="true"/>
          <p:nvPr/>
        </p:nvSpPr>
        <p:spPr>
          <a:xfrm rot="0">
            <a:off x="3334271" y="481386"/>
            <a:ext cx="11619457" cy="970803"/>
          </a:xfrm>
          <a:prstGeom prst="rect">
            <a:avLst/>
          </a:prstGeom>
        </p:spPr>
        <p:txBody>
          <a:bodyPr anchor="t" rtlCol="false" tIns="0" lIns="0" bIns="0" rIns="0">
            <a:spAutoFit/>
          </a:bodyPr>
          <a:lstStyle/>
          <a:p>
            <a:pPr algn="ctr" marL="0" indent="0" lvl="0">
              <a:lnSpc>
                <a:spcPts val="7852"/>
              </a:lnSpc>
              <a:spcBef>
                <a:spcPct val="0"/>
              </a:spcBef>
            </a:pPr>
            <a:r>
              <a:rPr lang="en-US" sz="5569">
                <a:solidFill>
                  <a:srgbClr val="F7562B"/>
                </a:solidFill>
                <a:latin typeface="Mokoto"/>
              </a:rPr>
              <a:t>data normalization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507116" y="3664701"/>
            <a:ext cx="1100244" cy="1100244"/>
          </a:xfrm>
          <a:custGeom>
            <a:avLst/>
            <a:gdLst/>
            <a:ahLst/>
            <a:cxnLst/>
            <a:rect r="r" b="b" t="t" l="l"/>
            <a:pathLst>
              <a:path h="1100244" w="1100244">
                <a:moveTo>
                  <a:pt x="0" y="0"/>
                </a:moveTo>
                <a:lnTo>
                  <a:pt x="1100244" y="0"/>
                </a:lnTo>
                <a:lnTo>
                  <a:pt x="1100244" y="1100244"/>
                </a:lnTo>
                <a:lnTo>
                  <a:pt x="0" y="1100244"/>
                </a:lnTo>
                <a:lnTo>
                  <a:pt x="0" y="0"/>
                </a:lnTo>
                <a:close/>
              </a:path>
            </a:pathLst>
          </a:custGeom>
          <a:blipFill>
            <a:blip r:embed="rId2"/>
            <a:stretch>
              <a:fillRect l="0" t="0" r="0" b="0"/>
            </a:stretch>
          </a:blipFill>
        </p:spPr>
      </p:sp>
      <p:grpSp>
        <p:nvGrpSpPr>
          <p:cNvPr name="Group 3" id="3"/>
          <p:cNvGrpSpPr/>
          <p:nvPr/>
        </p:nvGrpSpPr>
        <p:grpSpPr>
          <a:xfrm rot="0">
            <a:off x="2408650" y="3664701"/>
            <a:ext cx="1652728" cy="1084603"/>
            <a:chOff x="0" y="0"/>
            <a:chExt cx="2203637" cy="1446137"/>
          </a:xfrm>
        </p:grpSpPr>
        <p:grpSp>
          <p:nvGrpSpPr>
            <p:cNvPr name="Group 4" id="4"/>
            <p:cNvGrpSpPr/>
            <p:nvPr/>
          </p:nvGrpSpPr>
          <p:grpSpPr>
            <a:xfrm rot="0">
              <a:off x="0" y="0"/>
              <a:ext cx="2203637" cy="1446137"/>
              <a:chOff x="0" y="0"/>
              <a:chExt cx="812800" cy="533400"/>
            </a:xfrm>
          </p:grpSpPr>
          <p:sp>
            <p:nvSpPr>
              <p:cNvPr name="Freeform 5" id="5"/>
              <p:cNvSpPr/>
              <p:nvPr/>
            </p:nvSpPr>
            <p:spPr>
              <a:xfrm flipH="false" flipV="false" rot="0">
                <a:off x="0" y="0"/>
                <a:ext cx="827989" cy="537638"/>
              </a:xfrm>
              <a:custGeom>
                <a:avLst/>
                <a:gdLst/>
                <a:ahLst/>
                <a:cxnLst/>
                <a:rect r="r" b="b" t="t" l="l"/>
                <a:pathLst>
                  <a:path h="537638" w="827989">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solidFill>
                <a:srgbClr val="FFFFFF"/>
              </a:solidFill>
              <a:ln w="38100" cap="sq">
                <a:solidFill>
                  <a:srgbClr val="000000"/>
                </a:solidFill>
                <a:prstDash val="solid"/>
                <a:miter/>
              </a:ln>
            </p:spPr>
          </p:sp>
          <p:sp>
            <p:nvSpPr>
              <p:cNvPr name="TextBox 6" id="6"/>
              <p:cNvSpPr txBox="true"/>
              <p:nvPr/>
            </p:nvSpPr>
            <p:spPr>
              <a:xfrm>
                <a:off x="38100" y="12700"/>
                <a:ext cx="736600" cy="444500"/>
              </a:xfrm>
              <a:prstGeom prst="rect">
                <a:avLst/>
              </a:prstGeom>
            </p:spPr>
            <p:txBody>
              <a:bodyPr anchor="ctr" rtlCol="false" tIns="41515" lIns="41515" bIns="41515" rIns="41515"/>
              <a:lstStyle/>
              <a:p>
                <a:pPr algn="ctr">
                  <a:lnSpc>
                    <a:spcPts val="3672"/>
                  </a:lnSpc>
                </a:pPr>
              </a:p>
            </p:txBody>
          </p:sp>
        </p:grpSp>
        <p:sp>
          <p:nvSpPr>
            <p:cNvPr name="Freeform 7" id="7"/>
            <p:cNvSpPr/>
            <p:nvPr/>
          </p:nvSpPr>
          <p:spPr>
            <a:xfrm flipH="false" flipV="false" rot="0">
              <a:off x="557204" y="146720"/>
              <a:ext cx="1246158" cy="1152696"/>
            </a:xfrm>
            <a:custGeom>
              <a:avLst/>
              <a:gdLst/>
              <a:ahLst/>
              <a:cxnLst/>
              <a:rect r="r" b="b" t="t" l="l"/>
              <a:pathLst>
                <a:path h="1152696" w="1246158">
                  <a:moveTo>
                    <a:pt x="0" y="0"/>
                  </a:moveTo>
                  <a:lnTo>
                    <a:pt x="1246158" y="0"/>
                  </a:lnTo>
                  <a:lnTo>
                    <a:pt x="1246158" y="1152697"/>
                  </a:lnTo>
                  <a:lnTo>
                    <a:pt x="0" y="1152697"/>
                  </a:lnTo>
                  <a:lnTo>
                    <a:pt x="0" y="0"/>
                  </a:lnTo>
                  <a:close/>
                </a:path>
              </a:pathLst>
            </a:custGeom>
            <a:blipFill>
              <a:blip r:embed="rId3"/>
              <a:stretch>
                <a:fillRect l="-18127" t="-12869" r="-17547" b="-50103"/>
              </a:stretch>
            </a:blipFill>
          </p:spPr>
        </p:sp>
      </p:grpSp>
      <p:sp>
        <p:nvSpPr>
          <p:cNvPr name="AutoShape 8" id="8"/>
          <p:cNvSpPr/>
          <p:nvPr/>
        </p:nvSpPr>
        <p:spPr>
          <a:xfrm flipH="true">
            <a:off x="1607360" y="4207002"/>
            <a:ext cx="801290" cy="7821"/>
          </a:xfrm>
          <a:prstGeom prst="line">
            <a:avLst/>
          </a:prstGeom>
          <a:ln cap="flat" w="38100">
            <a:solidFill>
              <a:srgbClr val="000000"/>
            </a:solidFill>
            <a:prstDash val="sysDot"/>
            <a:headEnd type="none" len="sm" w="sm"/>
            <a:tailEnd type="arrow" len="sm" w="med"/>
          </a:ln>
        </p:spPr>
      </p:sp>
      <p:sp>
        <p:nvSpPr>
          <p:cNvPr name="Freeform 9" id="9"/>
          <p:cNvSpPr/>
          <p:nvPr/>
        </p:nvSpPr>
        <p:spPr>
          <a:xfrm flipH="false" flipV="false" rot="0">
            <a:off x="6764064" y="8064416"/>
            <a:ext cx="1010633" cy="1347511"/>
          </a:xfrm>
          <a:custGeom>
            <a:avLst/>
            <a:gdLst/>
            <a:ahLst/>
            <a:cxnLst/>
            <a:rect r="r" b="b" t="t" l="l"/>
            <a:pathLst>
              <a:path h="1347511" w="1010633">
                <a:moveTo>
                  <a:pt x="0" y="0"/>
                </a:moveTo>
                <a:lnTo>
                  <a:pt x="1010633" y="0"/>
                </a:lnTo>
                <a:lnTo>
                  <a:pt x="1010633" y="1347511"/>
                </a:lnTo>
                <a:lnTo>
                  <a:pt x="0" y="1347511"/>
                </a:lnTo>
                <a:lnTo>
                  <a:pt x="0" y="0"/>
                </a:lnTo>
                <a:close/>
              </a:path>
            </a:pathLst>
          </a:custGeom>
          <a:blipFill>
            <a:blip r:embed="rId4"/>
            <a:stretch>
              <a:fillRect l="0" t="0" r="0" b="0"/>
            </a:stretch>
          </a:blipFill>
        </p:spPr>
      </p:sp>
      <p:sp>
        <p:nvSpPr>
          <p:cNvPr name="Freeform 10" id="10"/>
          <p:cNvSpPr/>
          <p:nvPr/>
        </p:nvSpPr>
        <p:spPr>
          <a:xfrm flipH="false" flipV="false" rot="0">
            <a:off x="8686095" y="8211056"/>
            <a:ext cx="1424992" cy="1036358"/>
          </a:xfrm>
          <a:custGeom>
            <a:avLst/>
            <a:gdLst/>
            <a:ahLst/>
            <a:cxnLst/>
            <a:rect r="r" b="b" t="t" l="l"/>
            <a:pathLst>
              <a:path h="1036358" w="1424992">
                <a:moveTo>
                  <a:pt x="0" y="0"/>
                </a:moveTo>
                <a:lnTo>
                  <a:pt x="1424991" y="0"/>
                </a:lnTo>
                <a:lnTo>
                  <a:pt x="1424991" y="1036358"/>
                </a:lnTo>
                <a:lnTo>
                  <a:pt x="0" y="10363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1" id="11"/>
          <p:cNvSpPr/>
          <p:nvPr/>
        </p:nvSpPr>
        <p:spPr>
          <a:xfrm flipV="true">
            <a:off x="7774697" y="8729235"/>
            <a:ext cx="911397" cy="8936"/>
          </a:xfrm>
          <a:prstGeom prst="line">
            <a:avLst/>
          </a:prstGeom>
          <a:ln cap="flat" w="28575">
            <a:solidFill>
              <a:srgbClr val="000000"/>
            </a:solidFill>
            <a:prstDash val="sysDot"/>
            <a:headEnd type="none" len="sm" w="sm"/>
            <a:tailEnd type="arrow" len="sm" w="med"/>
          </a:ln>
        </p:spPr>
      </p:sp>
      <p:sp>
        <p:nvSpPr>
          <p:cNvPr name="Freeform 12" id="12"/>
          <p:cNvSpPr/>
          <p:nvPr/>
        </p:nvSpPr>
        <p:spPr>
          <a:xfrm flipH="false" flipV="false" rot="0">
            <a:off x="6762912" y="3784396"/>
            <a:ext cx="1321391" cy="961011"/>
          </a:xfrm>
          <a:custGeom>
            <a:avLst/>
            <a:gdLst/>
            <a:ahLst/>
            <a:cxnLst/>
            <a:rect r="r" b="b" t="t" l="l"/>
            <a:pathLst>
              <a:path h="961011" w="1321391">
                <a:moveTo>
                  <a:pt x="0" y="0"/>
                </a:moveTo>
                <a:lnTo>
                  <a:pt x="1321391" y="0"/>
                </a:lnTo>
                <a:lnTo>
                  <a:pt x="1321391" y="961011"/>
                </a:lnTo>
                <a:lnTo>
                  <a:pt x="0" y="961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3" id="13"/>
          <p:cNvSpPr/>
          <p:nvPr/>
        </p:nvSpPr>
        <p:spPr>
          <a:xfrm flipV="true">
            <a:off x="8084303" y="4264901"/>
            <a:ext cx="643917" cy="0"/>
          </a:xfrm>
          <a:prstGeom prst="line">
            <a:avLst/>
          </a:prstGeom>
          <a:ln cap="flat" w="38100">
            <a:solidFill>
              <a:srgbClr val="000000"/>
            </a:solidFill>
            <a:prstDash val="sysDot"/>
            <a:headEnd type="none" len="sm" w="sm"/>
            <a:tailEnd type="arrow" len="sm" w="med"/>
          </a:ln>
        </p:spPr>
      </p:sp>
      <p:sp>
        <p:nvSpPr>
          <p:cNvPr name="Freeform 14" id="14"/>
          <p:cNvSpPr/>
          <p:nvPr/>
        </p:nvSpPr>
        <p:spPr>
          <a:xfrm flipH="false" flipV="false" rot="0">
            <a:off x="8728220" y="3718137"/>
            <a:ext cx="1025772" cy="1093530"/>
          </a:xfrm>
          <a:custGeom>
            <a:avLst/>
            <a:gdLst/>
            <a:ahLst/>
            <a:cxnLst/>
            <a:rect r="r" b="b" t="t" l="l"/>
            <a:pathLst>
              <a:path h="1093530" w="1025772">
                <a:moveTo>
                  <a:pt x="0" y="0"/>
                </a:moveTo>
                <a:lnTo>
                  <a:pt x="1025772" y="0"/>
                </a:lnTo>
                <a:lnTo>
                  <a:pt x="1025772" y="1093529"/>
                </a:lnTo>
                <a:lnTo>
                  <a:pt x="0" y="1093529"/>
                </a:lnTo>
                <a:lnTo>
                  <a:pt x="0" y="0"/>
                </a:lnTo>
                <a:close/>
              </a:path>
            </a:pathLst>
          </a:custGeom>
          <a:blipFill>
            <a:blip r:embed="rId7"/>
            <a:stretch>
              <a:fillRect l="0" t="0" r="-145540" b="0"/>
            </a:stretch>
          </a:blipFill>
        </p:spPr>
      </p:sp>
      <p:sp>
        <p:nvSpPr>
          <p:cNvPr name="AutoShape 15" id="15"/>
          <p:cNvSpPr/>
          <p:nvPr/>
        </p:nvSpPr>
        <p:spPr>
          <a:xfrm>
            <a:off x="14464640" y="4283943"/>
            <a:ext cx="1233602" cy="0"/>
          </a:xfrm>
          <a:prstGeom prst="line">
            <a:avLst/>
          </a:prstGeom>
          <a:ln cap="flat" w="38100">
            <a:solidFill>
              <a:srgbClr val="000000"/>
            </a:solidFill>
            <a:prstDash val="sysDot"/>
            <a:headEnd type="none" len="sm" w="sm"/>
            <a:tailEnd type="arrow" len="sm" w="med"/>
          </a:ln>
        </p:spPr>
      </p:sp>
      <p:sp>
        <p:nvSpPr>
          <p:cNvPr name="Freeform 16" id="16"/>
          <p:cNvSpPr/>
          <p:nvPr/>
        </p:nvSpPr>
        <p:spPr>
          <a:xfrm flipH="false" flipV="false" rot="0">
            <a:off x="15698242" y="3657075"/>
            <a:ext cx="1561058" cy="1253737"/>
          </a:xfrm>
          <a:custGeom>
            <a:avLst/>
            <a:gdLst/>
            <a:ahLst/>
            <a:cxnLst/>
            <a:rect r="r" b="b" t="t" l="l"/>
            <a:pathLst>
              <a:path h="1253737" w="1561058">
                <a:moveTo>
                  <a:pt x="0" y="0"/>
                </a:moveTo>
                <a:lnTo>
                  <a:pt x="1561058" y="0"/>
                </a:lnTo>
                <a:lnTo>
                  <a:pt x="1561058" y="1253737"/>
                </a:lnTo>
                <a:lnTo>
                  <a:pt x="0" y="1253737"/>
                </a:lnTo>
                <a:lnTo>
                  <a:pt x="0" y="0"/>
                </a:lnTo>
                <a:close/>
              </a:path>
            </a:pathLst>
          </a:custGeom>
          <a:blipFill>
            <a:blip r:embed="rId8"/>
            <a:stretch>
              <a:fillRect l="-17645" t="0" r="-25133" b="0"/>
            </a:stretch>
          </a:blipFill>
        </p:spPr>
      </p:sp>
      <p:sp>
        <p:nvSpPr>
          <p:cNvPr name="AutoShape 17" id="17"/>
          <p:cNvSpPr/>
          <p:nvPr/>
        </p:nvSpPr>
        <p:spPr>
          <a:xfrm>
            <a:off x="14590953" y="7821804"/>
            <a:ext cx="974003" cy="0"/>
          </a:xfrm>
          <a:prstGeom prst="line">
            <a:avLst/>
          </a:prstGeom>
          <a:ln cap="flat" w="38100">
            <a:solidFill>
              <a:srgbClr val="000000"/>
            </a:solidFill>
            <a:prstDash val="sysDot"/>
            <a:headEnd type="none" len="sm" w="sm"/>
            <a:tailEnd type="arrow" len="sm" w="med"/>
          </a:ln>
        </p:spPr>
      </p:sp>
      <p:sp>
        <p:nvSpPr>
          <p:cNvPr name="Freeform 18" id="18"/>
          <p:cNvSpPr/>
          <p:nvPr/>
        </p:nvSpPr>
        <p:spPr>
          <a:xfrm flipH="false" flipV="false" rot="0">
            <a:off x="15564956" y="7081251"/>
            <a:ext cx="1323121" cy="1481106"/>
          </a:xfrm>
          <a:custGeom>
            <a:avLst/>
            <a:gdLst/>
            <a:ahLst/>
            <a:cxnLst/>
            <a:rect r="r" b="b" t="t" l="l"/>
            <a:pathLst>
              <a:path h="1481106" w="1323121">
                <a:moveTo>
                  <a:pt x="0" y="0"/>
                </a:moveTo>
                <a:lnTo>
                  <a:pt x="1323122" y="0"/>
                </a:lnTo>
                <a:lnTo>
                  <a:pt x="1323122" y="1481106"/>
                </a:lnTo>
                <a:lnTo>
                  <a:pt x="0" y="1481106"/>
                </a:lnTo>
                <a:lnTo>
                  <a:pt x="0" y="0"/>
                </a:lnTo>
                <a:close/>
              </a:path>
            </a:pathLst>
          </a:custGeom>
          <a:blipFill>
            <a:blip r:embed="rId9"/>
            <a:stretch>
              <a:fillRect l="0" t="0" r="0" b="0"/>
            </a:stretch>
          </a:blipFill>
        </p:spPr>
      </p:sp>
      <p:sp>
        <p:nvSpPr>
          <p:cNvPr name="Freeform 19" id="19"/>
          <p:cNvSpPr/>
          <p:nvPr/>
        </p:nvSpPr>
        <p:spPr>
          <a:xfrm flipH="false" flipV="false" rot="0">
            <a:off x="13438868" y="3737179"/>
            <a:ext cx="1025772" cy="1093530"/>
          </a:xfrm>
          <a:custGeom>
            <a:avLst/>
            <a:gdLst/>
            <a:ahLst/>
            <a:cxnLst/>
            <a:rect r="r" b="b" t="t" l="l"/>
            <a:pathLst>
              <a:path h="1093530" w="1025772">
                <a:moveTo>
                  <a:pt x="0" y="0"/>
                </a:moveTo>
                <a:lnTo>
                  <a:pt x="1025772" y="0"/>
                </a:lnTo>
                <a:lnTo>
                  <a:pt x="1025772" y="1093529"/>
                </a:lnTo>
                <a:lnTo>
                  <a:pt x="0" y="1093529"/>
                </a:lnTo>
                <a:lnTo>
                  <a:pt x="0" y="0"/>
                </a:lnTo>
                <a:close/>
              </a:path>
            </a:pathLst>
          </a:custGeom>
          <a:blipFill>
            <a:blip r:embed="rId7"/>
            <a:stretch>
              <a:fillRect l="0" t="0" r="-145540" b="0"/>
            </a:stretch>
          </a:blipFill>
        </p:spPr>
      </p:sp>
      <p:sp>
        <p:nvSpPr>
          <p:cNvPr name="Freeform 20" id="20"/>
          <p:cNvSpPr/>
          <p:nvPr/>
        </p:nvSpPr>
        <p:spPr>
          <a:xfrm flipH="false" flipV="false" rot="0">
            <a:off x="13565181" y="7275039"/>
            <a:ext cx="1025772" cy="1093530"/>
          </a:xfrm>
          <a:custGeom>
            <a:avLst/>
            <a:gdLst/>
            <a:ahLst/>
            <a:cxnLst/>
            <a:rect r="r" b="b" t="t" l="l"/>
            <a:pathLst>
              <a:path h="1093530" w="1025772">
                <a:moveTo>
                  <a:pt x="0" y="0"/>
                </a:moveTo>
                <a:lnTo>
                  <a:pt x="1025772" y="0"/>
                </a:lnTo>
                <a:lnTo>
                  <a:pt x="1025772" y="1093530"/>
                </a:lnTo>
                <a:lnTo>
                  <a:pt x="0" y="1093530"/>
                </a:lnTo>
                <a:lnTo>
                  <a:pt x="0" y="0"/>
                </a:lnTo>
                <a:close/>
              </a:path>
            </a:pathLst>
          </a:custGeom>
          <a:blipFill>
            <a:blip r:embed="rId7"/>
            <a:stretch>
              <a:fillRect l="0" t="0" r="-145540" b="0"/>
            </a:stretch>
          </a:blipFill>
        </p:spPr>
      </p:sp>
      <p:sp>
        <p:nvSpPr>
          <p:cNvPr name="Freeform 21" id="21"/>
          <p:cNvSpPr/>
          <p:nvPr/>
        </p:nvSpPr>
        <p:spPr>
          <a:xfrm flipH="false" flipV="false" rot="0">
            <a:off x="1331825" y="7898258"/>
            <a:ext cx="1699139" cy="1699139"/>
          </a:xfrm>
          <a:custGeom>
            <a:avLst/>
            <a:gdLst/>
            <a:ahLst/>
            <a:cxnLst/>
            <a:rect r="r" b="b" t="t" l="l"/>
            <a:pathLst>
              <a:path h="1699139" w="1699139">
                <a:moveTo>
                  <a:pt x="0" y="0"/>
                </a:moveTo>
                <a:lnTo>
                  <a:pt x="1699139" y="0"/>
                </a:lnTo>
                <a:lnTo>
                  <a:pt x="1699139" y="1699139"/>
                </a:lnTo>
                <a:lnTo>
                  <a:pt x="0" y="1699139"/>
                </a:lnTo>
                <a:lnTo>
                  <a:pt x="0" y="0"/>
                </a:lnTo>
                <a:close/>
              </a:path>
            </a:pathLst>
          </a:custGeom>
          <a:blipFill>
            <a:blip r:embed="rId10"/>
            <a:stretch>
              <a:fillRect l="0" t="0" r="0" b="0"/>
            </a:stretch>
          </a:blipFill>
        </p:spPr>
      </p:sp>
      <p:sp>
        <p:nvSpPr>
          <p:cNvPr name="Freeform 22" id="22"/>
          <p:cNvSpPr/>
          <p:nvPr/>
        </p:nvSpPr>
        <p:spPr>
          <a:xfrm flipH="false" flipV="false" rot="5400000">
            <a:off x="1643838" y="5531213"/>
            <a:ext cx="1083157" cy="307730"/>
          </a:xfrm>
          <a:custGeom>
            <a:avLst/>
            <a:gdLst/>
            <a:ahLst/>
            <a:cxnLst/>
            <a:rect r="r" b="b" t="t" l="l"/>
            <a:pathLst>
              <a:path h="307730" w="1083157">
                <a:moveTo>
                  <a:pt x="0" y="0"/>
                </a:moveTo>
                <a:lnTo>
                  <a:pt x="1083156" y="0"/>
                </a:lnTo>
                <a:lnTo>
                  <a:pt x="1083156" y="307730"/>
                </a:lnTo>
                <a:lnTo>
                  <a:pt x="0" y="3077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4355936" y="8440098"/>
            <a:ext cx="1083157" cy="307730"/>
          </a:xfrm>
          <a:custGeom>
            <a:avLst/>
            <a:gdLst/>
            <a:ahLst/>
            <a:cxnLst/>
            <a:rect r="r" b="b" t="t" l="l"/>
            <a:pathLst>
              <a:path h="307730" w="1083157">
                <a:moveTo>
                  <a:pt x="0" y="0"/>
                </a:moveTo>
                <a:lnTo>
                  <a:pt x="1083157" y="0"/>
                </a:lnTo>
                <a:lnTo>
                  <a:pt x="1083157" y="307730"/>
                </a:lnTo>
                <a:lnTo>
                  <a:pt x="0" y="3077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true" flipV="true" rot="5400000">
            <a:off x="7867110" y="5425846"/>
            <a:ext cx="1083157" cy="307730"/>
          </a:xfrm>
          <a:custGeom>
            <a:avLst/>
            <a:gdLst/>
            <a:ahLst/>
            <a:cxnLst/>
            <a:rect r="r" b="b" t="t" l="l"/>
            <a:pathLst>
              <a:path h="307730" w="1083157">
                <a:moveTo>
                  <a:pt x="1083157" y="307730"/>
                </a:moveTo>
                <a:lnTo>
                  <a:pt x="0" y="307730"/>
                </a:lnTo>
                <a:lnTo>
                  <a:pt x="0" y="0"/>
                </a:lnTo>
                <a:lnTo>
                  <a:pt x="1083157" y="0"/>
                </a:lnTo>
                <a:lnTo>
                  <a:pt x="1083157" y="30773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0793792" y="4021936"/>
            <a:ext cx="1710394" cy="485932"/>
          </a:xfrm>
          <a:custGeom>
            <a:avLst/>
            <a:gdLst/>
            <a:ahLst/>
            <a:cxnLst/>
            <a:rect r="r" b="b" t="t" l="l"/>
            <a:pathLst>
              <a:path h="485932" w="1710394">
                <a:moveTo>
                  <a:pt x="0" y="0"/>
                </a:moveTo>
                <a:lnTo>
                  <a:pt x="1710394" y="0"/>
                </a:lnTo>
                <a:lnTo>
                  <a:pt x="1710394" y="485931"/>
                </a:lnTo>
                <a:lnTo>
                  <a:pt x="0" y="485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6" id="26"/>
          <p:cNvSpPr/>
          <p:nvPr/>
        </p:nvSpPr>
        <p:spPr>
          <a:xfrm flipH="false" flipV="false" rot="1964498">
            <a:off x="10675631" y="5029861"/>
            <a:ext cx="1646312" cy="467726"/>
          </a:xfrm>
          <a:custGeom>
            <a:avLst/>
            <a:gdLst/>
            <a:ahLst/>
            <a:cxnLst/>
            <a:rect r="r" b="b" t="t" l="l"/>
            <a:pathLst>
              <a:path h="467726" w="1646312">
                <a:moveTo>
                  <a:pt x="0" y="0"/>
                </a:moveTo>
                <a:lnTo>
                  <a:pt x="1646312" y="0"/>
                </a:lnTo>
                <a:lnTo>
                  <a:pt x="1646312" y="467726"/>
                </a:lnTo>
                <a:lnTo>
                  <a:pt x="0" y="4677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7" id="27"/>
          <p:cNvSpPr txBox="true"/>
          <p:nvPr/>
        </p:nvSpPr>
        <p:spPr>
          <a:xfrm rot="0">
            <a:off x="1039228" y="2942027"/>
            <a:ext cx="2490038"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Extract Data</a:t>
            </a:r>
          </a:p>
        </p:txBody>
      </p:sp>
      <p:sp>
        <p:nvSpPr>
          <p:cNvPr name="TextBox 28" id="28"/>
          <p:cNvSpPr txBox="true"/>
          <p:nvPr/>
        </p:nvSpPr>
        <p:spPr>
          <a:xfrm rot="0">
            <a:off x="1720118" y="2375151"/>
            <a:ext cx="1010221" cy="665680"/>
          </a:xfrm>
          <a:prstGeom prst="rect">
            <a:avLst/>
          </a:prstGeom>
        </p:spPr>
        <p:txBody>
          <a:bodyPr anchor="t" rtlCol="false" tIns="0" lIns="0" bIns="0" rIns="0">
            <a:spAutoFit/>
          </a:bodyPr>
          <a:lstStyle/>
          <a:p>
            <a:pPr algn="ctr" marL="0" indent="0" lvl="0">
              <a:lnSpc>
                <a:spcPts val="5382"/>
              </a:lnSpc>
              <a:spcBef>
                <a:spcPct val="0"/>
              </a:spcBef>
            </a:pPr>
            <a:r>
              <a:rPr lang="en-US" sz="3817" spc="740" strike="noStrike" u="none">
                <a:solidFill>
                  <a:srgbClr val="FEC801"/>
                </a:solidFill>
                <a:latin typeface="Mokoto"/>
              </a:rPr>
              <a:t>01</a:t>
            </a:r>
          </a:p>
        </p:txBody>
      </p:sp>
      <p:sp>
        <p:nvSpPr>
          <p:cNvPr name="TextBox 29" id="29"/>
          <p:cNvSpPr txBox="true"/>
          <p:nvPr/>
        </p:nvSpPr>
        <p:spPr>
          <a:xfrm rot="0">
            <a:off x="1675649" y="6611385"/>
            <a:ext cx="1019533" cy="680551"/>
          </a:xfrm>
          <a:prstGeom prst="rect">
            <a:avLst/>
          </a:prstGeom>
        </p:spPr>
        <p:txBody>
          <a:bodyPr anchor="t" rtlCol="false" tIns="0" lIns="0" bIns="0" rIns="0">
            <a:spAutoFit/>
          </a:bodyPr>
          <a:lstStyle/>
          <a:p>
            <a:pPr algn="ctr" marL="0" indent="0" lvl="0">
              <a:lnSpc>
                <a:spcPts val="5432"/>
              </a:lnSpc>
              <a:spcBef>
                <a:spcPct val="0"/>
              </a:spcBef>
            </a:pPr>
            <a:r>
              <a:rPr lang="en-US" sz="3852" strike="noStrike" u="none">
                <a:solidFill>
                  <a:srgbClr val="EF82EB"/>
                </a:solidFill>
                <a:latin typeface="Mokoto"/>
              </a:rPr>
              <a:t>02</a:t>
            </a:r>
          </a:p>
        </p:txBody>
      </p:sp>
      <p:sp>
        <p:nvSpPr>
          <p:cNvPr name="TextBox 30" id="30"/>
          <p:cNvSpPr txBox="true"/>
          <p:nvPr/>
        </p:nvSpPr>
        <p:spPr>
          <a:xfrm rot="0">
            <a:off x="811094" y="7263361"/>
            <a:ext cx="3195111"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Transform Data</a:t>
            </a:r>
          </a:p>
        </p:txBody>
      </p:sp>
      <p:sp>
        <p:nvSpPr>
          <p:cNvPr name="TextBox 31" id="31"/>
          <p:cNvSpPr txBox="true"/>
          <p:nvPr/>
        </p:nvSpPr>
        <p:spPr>
          <a:xfrm rot="0">
            <a:off x="7911891" y="6611385"/>
            <a:ext cx="993596" cy="678248"/>
          </a:xfrm>
          <a:prstGeom prst="rect">
            <a:avLst/>
          </a:prstGeom>
        </p:spPr>
        <p:txBody>
          <a:bodyPr anchor="t" rtlCol="false" tIns="0" lIns="0" bIns="0" rIns="0">
            <a:spAutoFit/>
          </a:bodyPr>
          <a:lstStyle/>
          <a:p>
            <a:pPr algn="ctr" marL="0" indent="0" lvl="0">
              <a:lnSpc>
                <a:spcPts val="5434"/>
              </a:lnSpc>
              <a:spcBef>
                <a:spcPct val="0"/>
              </a:spcBef>
            </a:pPr>
            <a:r>
              <a:rPr lang="en-US" sz="3854" strike="noStrike" u="none">
                <a:solidFill>
                  <a:srgbClr val="02B676"/>
                </a:solidFill>
                <a:latin typeface="Mokoto"/>
              </a:rPr>
              <a:t>03</a:t>
            </a:r>
          </a:p>
        </p:txBody>
      </p:sp>
      <p:sp>
        <p:nvSpPr>
          <p:cNvPr name="TextBox 32" id="32"/>
          <p:cNvSpPr txBox="true"/>
          <p:nvPr/>
        </p:nvSpPr>
        <p:spPr>
          <a:xfrm rot="0">
            <a:off x="7423608" y="7263361"/>
            <a:ext cx="2027935"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Save Data</a:t>
            </a:r>
          </a:p>
        </p:txBody>
      </p:sp>
      <p:sp>
        <p:nvSpPr>
          <p:cNvPr name="TextBox 33" id="33"/>
          <p:cNvSpPr txBox="true"/>
          <p:nvPr/>
        </p:nvSpPr>
        <p:spPr>
          <a:xfrm rot="0">
            <a:off x="7681168" y="2365626"/>
            <a:ext cx="1154568" cy="678371"/>
          </a:xfrm>
          <a:prstGeom prst="rect">
            <a:avLst/>
          </a:prstGeom>
        </p:spPr>
        <p:txBody>
          <a:bodyPr anchor="t" rtlCol="false" tIns="0" lIns="0" bIns="0" rIns="0">
            <a:spAutoFit/>
          </a:bodyPr>
          <a:lstStyle/>
          <a:p>
            <a:pPr algn="ctr" marL="0" indent="0" lvl="0">
              <a:lnSpc>
                <a:spcPts val="5428"/>
              </a:lnSpc>
              <a:spcBef>
                <a:spcPct val="0"/>
              </a:spcBef>
            </a:pPr>
            <a:r>
              <a:rPr lang="en-US" sz="3849">
                <a:solidFill>
                  <a:srgbClr val="5CE1E6"/>
                </a:solidFill>
                <a:latin typeface="Mokoto"/>
              </a:rPr>
              <a:t>04</a:t>
            </a:r>
          </a:p>
        </p:txBody>
      </p:sp>
      <p:sp>
        <p:nvSpPr>
          <p:cNvPr name="TextBox 34" id="34"/>
          <p:cNvSpPr txBox="true"/>
          <p:nvPr/>
        </p:nvSpPr>
        <p:spPr>
          <a:xfrm rot="0">
            <a:off x="6398382" y="2959947"/>
            <a:ext cx="4020613"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Import to AWS RDS</a:t>
            </a:r>
          </a:p>
        </p:txBody>
      </p:sp>
      <p:sp>
        <p:nvSpPr>
          <p:cNvPr name="TextBox 35" id="35"/>
          <p:cNvSpPr txBox="true"/>
          <p:nvPr/>
        </p:nvSpPr>
        <p:spPr>
          <a:xfrm rot="0">
            <a:off x="841748" y="412543"/>
            <a:ext cx="16604503" cy="916736"/>
          </a:xfrm>
          <a:prstGeom prst="rect">
            <a:avLst/>
          </a:prstGeom>
        </p:spPr>
        <p:txBody>
          <a:bodyPr anchor="t" rtlCol="false" tIns="0" lIns="0" bIns="0" rIns="0">
            <a:spAutoFit/>
          </a:bodyPr>
          <a:lstStyle/>
          <a:p>
            <a:pPr algn="ctr" marL="0" indent="0" lvl="0">
              <a:lnSpc>
                <a:spcPts val="7430"/>
              </a:lnSpc>
              <a:spcBef>
                <a:spcPct val="0"/>
              </a:spcBef>
            </a:pPr>
            <a:r>
              <a:rPr lang="en-US" sz="5269">
                <a:solidFill>
                  <a:srgbClr val="02B676"/>
                </a:solidFill>
                <a:latin typeface="Mokoto"/>
              </a:rPr>
              <a:t>ETL (EXTRACT, TRANSFORM, LOAD)</a:t>
            </a:r>
          </a:p>
        </p:txBody>
      </p:sp>
      <p:sp>
        <p:nvSpPr>
          <p:cNvPr name="TextBox 36" id="36"/>
          <p:cNvSpPr txBox="true"/>
          <p:nvPr/>
        </p:nvSpPr>
        <p:spPr>
          <a:xfrm rot="0">
            <a:off x="14505142" y="2365626"/>
            <a:ext cx="1298007" cy="678371"/>
          </a:xfrm>
          <a:prstGeom prst="rect">
            <a:avLst/>
          </a:prstGeom>
        </p:spPr>
        <p:txBody>
          <a:bodyPr anchor="t" rtlCol="false" tIns="0" lIns="0" bIns="0" rIns="0">
            <a:spAutoFit/>
          </a:bodyPr>
          <a:lstStyle/>
          <a:p>
            <a:pPr algn="ctr" marL="0" indent="0" lvl="0">
              <a:lnSpc>
                <a:spcPts val="5428"/>
              </a:lnSpc>
              <a:spcBef>
                <a:spcPct val="0"/>
              </a:spcBef>
            </a:pPr>
            <a:r>
              <a:rPr lang="en-US" sz="3849">
                <a:solidFill>
                  <a:srgbClr val="7925E9"/>
                </a:solidFill>
                <a:latin typeface="Mokoto"/>
              </a:rPr>
              <a:t>05</a:t>
            </a:r>
          </a:p>
        </p:txBody>
      </p:sp>
      <p:sp>
        <p:nvSpPr>
          <p:cNvPr name="TextBox 37" id="37"/>
          <p:cNvSpPr txBox="true"/>
          <p:nvPr/>
        </p:nvSpPr>
        <p:spPr>
          <a:xfrm rot="0">
            <a:off x="13438868" y="3070335"/>
            <a:ext cx="3575523"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Load to Power BI</a:t>
            </a:r>
          </a:p>
        </p:txBody>
      </p:sp>
      <p:sp>
        <p:nvSpPr>
          <p:cNvPr name="TextBox 38" id="38"/>
          <p:cNvSpPr txBox="true"/>
          <p:nvPr/>
        </p:nvSpPr>
        <p:spPr>
          <a:xfrm rot="0">
            <a:off x="14590953" y="5616864"/>
            <a:ext cx="1298007" cy="678371"/>
          </a:xfrm>
          <a:prstGeom prst="rect">
            <a:avLst/>
          </a:prstGeom>
        </p:spPr>
        <p:txBody>
          <a:bodyPr anchor="t" rtlCol="false" tIns="0" lIns="0" bIns="0" rIns="0">
            <a:spAutoFit/>
          </a:bodyPr>
          <a:lstStyle/>
          <a:p>
            <a:pPr algn="ctr" marL="0" indent="0" lvl="0">
              <a:lnSpc>
                <a:spcPts val="5428"/>
              </a:lnSpc>
              <a:spcBef>
                <a:spcPct val="0"/>
              </a:spcBef>
            </a:pPr>
            <a:r>
              <a:rPr lang="en-US" sz="3849">
                <a:solidFill>
                  <a:srgbClr val="ED7843"/>
                </a:solidFill>
                <a:latin typeface="Mokoto"/>
              </a:rPr>
              <a:t>06</a:t>
            </a:r>
          </a:p>
        </p:txBody>
      </p:sp>
      <p:sp>
        <p:nvSpPr>
          <p:cNvPr name="TextBox 39" id="39"/>
          <p:cNvSpPr txBox="true"/>
          <p:nvPr/>
        </p:nvSpPr>
        <p:spPr>
          <a:xfrm rot="0">
            <a:off x="13591837" y="6377483"/>
            <a:ext cx="3296241"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Load to VS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Freeform 5" id="5"/>
          <p:cNvSpPr/>
          <p:nvPr/>
        </p:nvSpPr>
        <p:spPr>
          <a:xfrm flipH="false" flipV="false" rot="0">
            <a:off x="7528770" y="4239953"/>
            <a:ext cx="2679659" cy="2679659"/>
          </a:xfrm>
          <a:custGeom>
            <a:avLst/>
            <a:gdLst/>
            <a:ahLst/>
            <a:cxnLst/>
            <a:rect r="r" b="b" t="t" l="l"/>
            <a:pathLst>
              <a:path h="2679659" w="2679659">
                <a:moveTo>
                  <a:pt x="0" y="0"/>
                </a:moveTo>
                <a:lnTo>
                  <a:pt x="2679659" y="0"/>
                </a:lnTo>
                <a:lnTo>
                  <a:pt x="2679659" y="2679659"/>
                </a:lnTo>
                <a:lnTo>
                  <a:pt x="0" y="26796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84789" y="866775"/>
            <a:ext cx="17318421" cy="1386841"/>
          </a:xfrm>
          <a:prstGeom prst="rect">
            <a:avLst/>
          </a:prstGeom>
        </p:spPr>
        <p:txBody>
          <a:bodyPr anchor="t" rtlCol="false" tIns="0" lIns="0" bIns="0" rIns="0">
            <a:spAutoFit/>
          </a:bodyPr>
          <a:lstStyle/>
          <a:p>
            <a:pPr algn="ctr" marL="0" indent="0" lvl="0">
              <a:lnSpc>
                <a:spcPts val="11279"/>
              </a:lnSpc>
              <a:spcBef>
                <a:spcPct val="0"/>
              </a:spcBef>
            </a:pPr>
            <a:r>
              <a:rPr lang="en-US" sz="7999">
                <a:solidFill>
                  <a:srgbClr val="7925E9"/>
                </a:solidFill>
                <a:latin typeface="Mokoto"/>
              </a:rPr>
              <a:t>MACHINE LEARNING</a:t>
            </a:r>
          </a:p>
        </p:txBody>
      </p:sp>
      <p:sp>
        <p:nvSpPr>
          <p:cNvPr name="Freeform 7" id="7"/>
          <p:cNvSpPr/>
          <p:nvPr/>
        </p:nvSpPr>
        <p:spPr>
          <a:xfrm flipH="false" flipV="false" rot="0">
            <a:off x="6485122" y="3147771"/>
            <a:ext cx="976698" cy="976698"/>
          </a:xfrm>
          <a:custGeom>
            <a:avLst/>
            <a:gdLst/>
            <a:ahLst/>
            <a:cxnLst/>
            <a:rect r="r" b="b" t="t" l="l"/>
            <a:pathLst>
              <a:path h="976698" w="976698">
                <a:moveTo>
                  <a:pt x="0" y="0"/>
                </a:moveTo>
                <a:lnTo>
                  <a:pt x="976698" y="0"/>
                </a:lnTo>
                <a:lnTo>
                  <a:pt x="976698" y="976697"/>
                </a:lnTo>
                <a:lnTo>
                  <a:pt x="0" y="9766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671718" y="3479071"/>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01</a:t>
            </a:r>
          </a:p>
        </p:txBody>
      </p:sp>
      <p:sp>
        <p:nvSpPr>
          <p:cNvPr name="TextBox 9" id="9"/>
          <p:cNvSpPr txBox="true"/>
          <p:nvPr/>
        </p:nvSpPr>
        <p:spPr>
          <a:xfrm rot="0">
            <a:off x="2583989" y="3357037"/>
            <a:ext cx="3362604"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Data Preparation</a:t>
            </a:r>
          </a:p>
        </p:txBody>
      </p:sp>
      <p:sp>
        <p:nvSpPr>
          <p:cNvPr name="Freeform 10" id="10"/>
          <p:cNvSpPr/>
          <p:nvPr/>
        </p:nvSpPr>
        <p:spPr>
          <a:xfrm flipH="false" flipV="false" rot="0">
            <a:off x="5304298" y="5091434"/>
            <a:ext cx="976698" cy="976698"/>
          </a:xfrm>
          <a:custGeom>
            <a:avLst/>
            <a:gdLst/>
            <a:ahLst/>
            <a:cxnLst/>
            <a:rect r="r" b="b" t="t" l="l"/>
            <a:pathLst>
              <a:path h="976698" w="976698">
                <a:moveTo>
                  <a:pt x="0" y="0"/>
                </a:moveTo>
                <a:lnTo>
                  <a:pt x="976697" y="0"/>
                </a:lnTo>
                <a:lnTo>
                  <a:pt x="976697" y="976698"/>
                </a:lnTo>
                <a:lnTo>
                  <a:pt x="0" y="976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490893" y="5422734"/>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02</a:t>
            </a:r>
          </a:p>
        </p:txBody>
      </p:sp>
      <p:sp>
        <p:nvSpPr>
          <p:cNvPr name="TextBox 12" id="12"/>
          <p:cNvSpPr txBox="true"/>
          <p:nvPr/>
        </p:nvSpPr>
        <p:spPr>
          <a:xfrm rot="0">
            <a:off x="1352510" y="5300700"/>
            <a:ext cx="3638151"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Regression Model</a:t>
            </a:r>
          </a:p>
        </p:txBody>
      </p:sp>
      <p:sp>
        <p:nvSpPr>
          <p:cNvPr name="Freeform 13" id="13"/>
          <p:cNvSpPr/>
          <p:nvPr/>
        </p:nvSpPr>
        <p:spPr>
          <a:xfrm flipH="false" flipV="false" rot="0">
            <a:off x="6485122" y="7217914"/>
            <a:ext cx="976698" cy="976698"/>
          </a:xfrm>
          <a:custGeom>
            <a:avLst/>
            <a:gdLst/>
            <a:ahLst/>
            <a:cxnLst/>
            <a:rect r="r" b="b" t="t" l="l"/>
            <a:pathLst>
              <a:path h="976698" w="976698">
                <a:moveTo>
                  <a:pt x="0" y="0"/>
                </a:moveTo>
                <a:lnTo>
                  <a:pt x="976698" y="0"/>
                </a:lnTo>
                <a:lnTo>
                  <a:pt x="976698" y="976698"/>
                </a:lnTo>
                <a:lnTo>
                  <a:pt x="0" y="976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6671718" y="7549214"/>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03</a:t>
            </a:r>
          </a:p>
        </p:txBody>
      </p:sp>
      <p:sp>
        <p:nvSpPr>
          <p:cNvPr name="Freeform 15" id="15"/>
          <p:cNvSpPr/>
          <p:nvPr/>
        </p:nvSpPr>
        <p:spPr>
          <a:xfrm flipH="false" flipV="false" rot="0">
            <a:off x="10293058" y="3146684"/>
            <a:ext cx="976698" cy="976698"/>
          </a:xfrm>
          <a:custGeom>
            <a:avLst/>
            <a:gdLst/>
            <a:ahLst/>
            <a:cxnLst/>
            <a:rect r="r" b="b" t="t" l="l"/>
            <a:pathLst>
              <a:path h="976698" w="976698">
                <a:moveTo>
                  <a:pt x="0" y="0"/>
                </a:moveTo>
                <a:lnTo>
                  <a:pt x="976698" y="0"/>
                </a:lnTo>
                <a:lnTo>
                  <a:pt x="976698" y="976698"/>
                </a:lnTo>
                <a:lnTo>
                  <a:pt x="0" y="976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479654" y="3477984"/>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04</a:t>
            </a:r>
          </a:p>
        </p:txBody>
      </p:sp>
      <p:sp>
        <p:nvSpPr>
          <p:cNvPr name="Freeform 17" id="17"/>
          <p:cNvSpPr/>
          <p:nvPr/>
        </p:nvSpPr>
        <p:spPr>
          <a:xfrm flipH="false" flipV="false" rot="0">
            <a:off x="11456204" y="5091434"/>
            <a:ext cx="976698" cy="976698"/>
          </a:xfrm>
          <a:custGeom>
            <a:avLst/>
            <a:gdLst/>
            <a:ahLst/>
            <a:cxnLst/>
            <a:rect r="r" b="b" t="t" l="l"/>
            <a:pathLst>
              <a:path h="976698" w="976698">
                <a:moveTo>
                  <a:pt x="0" y="0"/>
                </a:moveTo>
                <a:lnTo>
                  <a:pt x="976698" y="0"/>
                </a:lnTo>
                <a:lnTo>
                  <a:pt x="976698" y="976698"/>
                </a:lnTo>
                <a:lnTo>
                  <a:pt x="0" y="976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11642800" y="5422734"/>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05</a:t>
            </a:r>
          </a:p>
        </p:txBody>
      </p:sp>
      <p:sp>
        <p:nvSpPr>
          <p:cNvPr name="Freeform 19" id="19"/>
          <p:cNvSpPr/>
          <p:nvPr/>
        </p:nvSpPr>
        <p:spPr>
          <a:xfrm flipH="false" flipV="false" rot="0">
            <a:off x="10293058" y="7217914"/>
            <a:ext cx="976698" cy="976698"/>
          </a:xfrm>
          <a:custGeom>
            <a:avLst/>
            <a:gdLst/>
            <a:ahLst/>
            <a:cxnLst/>
            <a:rect r="r" b="b" t="t" l="l"/>
            <a:pathLst>
              <a:path h="976698" w="976698">
                <a:moveTo>
                  <a:pt x="0" y="0"/>
                </a:moveTo>
                <a:lnTo>
                  <a:pt x="976698" y="0"/>
                </a:lnTo>
                <a:lnTo>
                  <a:pt x="976698" y="976698"/>
                </a:lnTo>
                <a:lnTo>
                  <a:pt x="0" y="976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0479654" y="7549214"/>
            <a:ext cx="603506" cy="530999"/>
          </a:xfrm>
          <a:prstGeom prst="rect">
            <a:avLst/>
          </a:prstGeom>
        </p:spPr>
        <p:txBody>
          <a:bodyPr anchor="t" rtlCol="false" tIns="0" lIns="0" bIns="0" rIns="0">
            <a:spAutoFit/>
          </a:bodyPr>
          <a:lstStyle/>
          <a:p>
            <a:pPr algn="ctr" marL="0" indent="0" lvl="0">
              <a:lnSpc>
                <a:spcPts val="3555"/>
              </a:lnSpc>
              <a:spcBef>
                <a:spcPct val="0"/>
              </a:spcBef>
            </a:pPr>
            <a:r>
              <a:rPr lang="en-US" sz="4938">
                <a:solidFill>
                  <a:srgbClr val="5A35EE"/>
                </a:solidFill>
                <a:latin typeface="Computer Says No"/>
              </a:rPr>
              <a:t>06</a:t>
            </a:r>
          </a:p>
        </p:txBody>
      </p:sp>
      <p:sp>
        <p:nvSpPr>
          <p:cNvPr name="TextBox 21" id="21"/>
          <p:cNvSpPr txBox="true"/>
          <p:nvPr/>
        </p:nvSpPr>
        <p:spPr>
          <a:xfrm rot="0">
            <a:off x="1352363" y="7239707"/>
            <a:ext cx="4894931" cy="1072515"/>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Training and Evaluation Regression Model</a:t>
            </a:r>
          </a:p>
        </p:txBody>
      </p:sp>
      <p:sp>
        <p:nvSpPr>
          <p:cNvPr name="TextBox 22" id="22"/>
          <p:cNvSpPr txBox="true"/>
          <p:nvPr/>
        </p:nvSpPr>
        <p:spPr>
          <a:xfrm rot="0">
            <a:off x="11812681" y="3007169"/>
            <a:ext cx="4894931" cy="1072515"/>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Model Boosting Implementation </a:t>
            </a:r>
          </a:p>
        </p:txBody>
      </p:sp>
      <p:sp>
        <p:nvSpPr>
          <p:cNvPr name="TextBox 23" id="23"/>
          <p:cNvSpPr txBox="true"/>
          <p:nvPr/>
        </p:nvSpPr>
        <p:spPr>
          <a:xfrm rot="0">
            <a:off x="12747227" y="5300700"/>
            <a:ext cx="4894931"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Hyperparameter Tuning</a:t>
            </a:r>
          </a:p>
        </p:txBody>
      </p:sp>
      <p:sp>
        <p:nvSpPr>
          <p:cNvPr name="TextBox 24" id="24"/>
          <p:cNvSpPr txBox="true"/>
          <p:nvPr/>
        </p:nvSpPr>
        <p:spPr>
          <a:xfrm rot="0">
            <a:off x="11812681" y="7427181"/>
            <a:ext cx="4894931" cy="529590"/>
          </a:xfrm>
          <a:prstGeom prst="rect">
            <a:avLst/>
          </a:prstGeom>
        </p:spPr>
        <p:txBody>
          <a:bodyPr anchor="t" rtlCol="false" tIns="0" lIns="0" bIns="0" rIns="0">
            <a:spAutoFit/>
          </a:bodyPr>
          <a:lstStyle/>
          <a:p>
            <a:pPr algn="l" marL="0" indent="0" lvl="0">
              <a:lnSpc>
                <a:spcPts val="4290"/>
              </a:lnSpc>
              <a:spcBef>
                <a:spcPct val="0"/>
              </a:spcBef>
            </a:pPr>
            <a:r>
              <a:rPr lang="en-US" sz="3300">
                <a:solidFill>
                  <a:srgbClr val="000000"/>
                </a:solidFill>
                <a:latin typeface="Atkinson Hyperlegible Bold"/>
              </a:rPr>
              <a:t>Visualization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sp>
        <p:nvSpPr>
          <p:cNvPr name="Freeform 2" id="2"/>
          <p:cNvSpPr/>
          <p:nvPr/>
        </p:nvSpPr>
        <p:spPr>
          <a:xfrm flipH="false" flipV="false" rot="0">
            <a:off x="-715334" y="-4715834"/>
            <a:ext cx="19718669" cy="19718669"/>
          </a:xfrm>
          <a:custGeom>
            <a:avLst/>
            <a:gdLst/>
            <a:ahLst/>
            <a:cxnLst/>
            <a:rect r="r" b="b" t="t" l="l"/>
            <a:pathLst>
              <a:path h="19718669" w="19718669">
                <a:moveTo>
                  <a:pt x="0" y="0"/>
                </a:moveTo>
                <a:lnTo>
                  <a:pt x="19718668" y="0"/>
                </a:lnTo>
                <a:lnTo>
                  <a:pt x="19718668" y="19718668"/>
                </a:lnTo>
                <a:lnTo>
                  <a:pt x="0" y="19718668"/>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44129" y="579174"/>
            <a:ext cx="11399742" cy="11057750"/>
          </a:xfrm>
          <a:custGeom>
            <a:avLst/>
            <a:gdLst/>
            <a:ahLst/>
            <a:cxnLst/>
            <a:rect r="r" b="b" t="t" l="l"/>
            <a:pathLst>
              <a:path h="11057750" w="11399742">
                <a:moveTo>
                  <a:pt x="0" y="0"/>
                </a:moveTo>
                <a:lnTo>
                  <a:pt x="11399742" y="0"/>
                </a:lnTo>
                <a:lnTo>
                  <a:pt x="11399742" y="11057750"/>
                </a:lnTo>
                <a:lnTo>
                  <a:pt x="0" y="110577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109797" y="2859405"/>
            <a:ext cx="8068406" cy="2284095"/>
          </a:xfrm>
          <a:prstGeom prst="rect">
            <a:avLst/>
          </a:prstGeom>
        </p:spPr>
        <p:txBody>
          <a:bodyPr anchor="t" rtlCol="false" tIns="0" lIns="0" bIns="0" rIns="0">
            <a:spAutoFit/>
          </a:bodyPr>
          <a:lstStyle/>
          <a:p>
            <a:pPr algn="ctr" marL="0" indent="0" lvl="0">
              <a:lnSpc>
                <a:spcPts val="9164"/>
              </a:lnSpc>
              <a:spcBef>
                <a:spcPct val="0"/>
              </a:spcBef>
            </a:pPr>
            <a:r>
              <a:rPr lang="en-US" sz="6499" spc="-474">
                <a:solidFill>
                  <a:srgbClr val="F7562B"/>
                </a:solidFill>
                <a:latin typeface="Mokoto"/>
              </a:rPr>
              <a:t>HASIL DAN PEMBAHASAN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TextBox 5" id="5"/>
          <p:cNvSpPr txBox="true"/>
          <p:nvPr/>
        </p:nvSpPr>
        <p:spPr>
          <a:xfrm rot="0">
            <a:off x="614842" y="3301365"/>
            <a:ext cx="5530581" cy="2585085"/>
          </a:xfrm>
          <a:prstGeom prst="rect">
            <a:avLst/>
          </a:prstGeom>
        </p:spPr>
        <p:txBody>
          <a:bodyPr anchor="t" rtlCol="false" tIns="0" lIns="0" bIns="0" rIns="0">
            <a:spAutoFit/>
          </a:bodyPr>
          <a:lstStyle/>
          <a:p>
            <a:pPr algn="l">
              <a:lnSpc>
                <a:spcPts val="2940"/>
              </a:lnSpc>
            </a:pPr>
            <a:r>
              <a:rPr lang="en-US" sz="2100">
                <a:solidFill>
                  <a:srgbClr val="000000"/>
                </a:solidFill>
                <a:latin typeface="Atkinson Hyperlegible"/>
              </a:rPr>
              <a:t>Business Insights dapat dilihat pada dashboard Power BI kami pada link berikut ini:</a:t>
            </a:r>
          </a:p>
          <a:p>
            <a:pPr algn="l">
              <a:lnSpc>
                <a:spcPts val="2940"/>
              </a:lnSpc>
            </a:pPr>
          </a:p>
          <a:p>
            <a:pPr algn="l" marL="453390" indent="-226695" lvl="1">
              <a:lnSpc>
                <a:spcPts val="2940"/>
              </a:lnSpc>
              <a:buFont typeface="Arial"/>
              <a:buChar char="•"/>
            </a:pPr>
            <a:r>
              <a:rPr lang="en-US" sz="2100" u="sng">
                <a:solidFill>
                  <a:srgbClr val="000000"/>
                </a:solidFill>
                <a:latin typeface="Atkinson Hyperlegible"/>
              </a:rPr>
              <a:t>https://app.powerbi.com/reportEmbed?reportId=06b1c921-be4e-4c08-90f9-7f4f8d51581d&amp;autoAuth=true&amp;ctid=42d20f55-f787-4741-aee9-b0153477840c</a:t>
            </a:r>
          </a:p>
        </p:txBody>
      </p:sp>
      <p:sp>
        <p:nvSpPr>
          <p:cNvPr name="Freeform 6" id="6"/>
          <p:cNvSpPr/>
          <p:nvPr/>
        </p:nvSpPr>
        <p:spPr>
          <a:xfrm flipH="false" flipV="false" rot="0">
            <a:off x="6772309" y="2865477"/>
            <a:ext cx="10893128" cy="5897602"/>
          </a:xfrm>
          <a:custGeom>
            <a:avLst/>
            <a:gdLst/>
            <a:ahLst/>
            <a:cxnLst/>
            <a:rect r="r" b="b" t="t" l="l"/>
            <a:pathLst>
              <a:path h="5897602" w="10893128">
                <a:moveTo>
                  <a:pt x="0" y="0"/>
                </a:moveTo>
                <a:lnTo>
                  <a:pt x="10893128" y="0"/>
                </a:lnTo>
                <a:lnTo>
                  <a:pt x="10893128" y="5897601"/>
                </a:lnTo>
                <a:lnTo>
                  <a:pt x="0" y="5897601"/>
                </a:lnTo>
                <a:lnTo>
                  <a:pt x="0" y="0"/>
                </a:lnTo>
                <a:close/>
              </a:path>
            </a:pathLst>
          </a:custGeom>
          <a:blipFill>
            <a:blip r:embed="rId2"/>
            <a:stretch>
              <a:fillRect l="0" t="0" r="0" b="0"/>
            </a:stretch>
          </a:blipFill>
        </p:spPr>
      </p:sp>
      <p:sp>
        <p:nvSpPr>
          <p:cNvPr name="TextBox 7" id="7"/>
          <p:cNvSpPr txBox="true"/>
          <p:nvPr/>
        </p:nvSpPr>
        <p:spPr>
          <a:xfrm rot="0">
            <a:off x="484789" y="866775"/>
            <a:ext cx="17318421" cy="1386841"/>
          </a:xfrm>
          <a:prstGeom prst="rect">
            <a:avLst/>
          </a:prstGeom>
        </p:spPr>
        <p:txBody>
          <a:bodyPr anchor="t" rtlCol="false" tIns="0" lIns="0" bIns="0" rIns="0">
            <a:spAutoFit/>
          </a:bodyPr>
          <a:lstStyle/>
          <a:p>
            <a:pPr algn="ctr" marL="0" indent="0" lvl="0">
              <a:lnSpc>
                <a:spcPts val="11279"/>
              </a:lnSpc>
              <a:spcBef>
                <a:spcPct val="0"/>
              </a:spcBef>
            </a:pPr>
            <a:r>
              <a:rPr lang="en-US" sz="7999">
                <a:solidFill>
                  <a:srgbClr val="FEC801"/>
                </a:solidFill>
                <a:latin typeface="Mokoto"/>
              </a:rPr>
              <a:t>BUSINESS INSIGHTS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DADEDF"/>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Freeform 5" id="5"/>
          <p:cNvSpPr/>
          <p:nvPr/>
        </p:nvSpPr>
        <p:spPr>
          <a:xfrm flipH="false" flipV="false" rot="0">
            <a:off x="1028700" y="2732509"/>
            <a:ext cx="8722315" cy="5433092"/>
          </a:xfrm>
          <a:custGeom>
            <a:avLst/>
            <a:gdLst/>
            <a:ahLst/>
            <a:cxnLst/>
            <a:rect r="r" b="b" t="t" l="l"/>
            <a:pathLst>
              <a:path h="5433092" w="8722315">
                <a:moveTo>
                  <a:pt x="0" y="0"/>
                </a:moveTo>
                <a:lnTo>
                  <a:pt x="8722315" y="0"/>
                </a:lnTo>
                <a:lnTo>
                  <a:pt x="8722315" y="5433092"/>
                </a:lnTo>
                <a:lnTo>
                  <a:pt x="0" y="5433092"/>
                </a:lnTo>
                <a:lnTo>
                  <a:pt x="0" y="0"/>
                </a:lnTo>
                <a:close/>
              </a:path>
            </a:pathLst>
          </a:custGeom>
          <a:blipFill>
            <a:blip r:embed="rId2"/>
            <a:stretch>
              <a:fillRect l="0" t="0" r="0" b="0"/>
            </a:stretch>
          </a:blipFill>
        </p:spPr>
      </p:sp>
      <p:sp>
        <p:nvSpPr>
          <p:cNvPr name="Freeform 6" id="6"/>
          <p:cNvSpPr/>
          <p:nvPr/>
        </p:nvSpPr>
        <p:spPr>
          <a:xfrm flipH="false" flipV="false" rot="0">
            <a:off x="10608673" y="2987489"/>
            <a:ext cx="6650627" cy="2806918"/>
          </a:xfrm>
          <a:custGeom>
            <a:avLst/>
            <a:gdLst/>
            <a:ahLst/>
            <a:cxnLst/>
            <a:rect r="r" b="b" t="t" l="l"/>
            <a:pathLst>
              <a:path h="2806918" w="6650627">
                <a:moveTo>
                  <a:pt x="0" y="0"/>
                </a:moveTo>
                <a:lnTo>
                  <a:pt x="6650627" y="0"/>
                </a:lnTo>
                <a:lnTo>
                  <a:pt x="6650627" y="2806919"/>
                </a:lnTo>
                <a:lnTo>
                  <a:pt x="0" y="2806919"/>
                </a:lnTo>
                <a:lnTo>
                  <a:pt x="0" y="0"/>
                </a:lnTo>
                <a:close/>
              </a:path>
            </a:pathLst>
          </a:custGeom>
          <a:blipFill>
            <a:blip r:embed="rId3"/>
            <a:stretch>
              <a:fillRect l="0" t="0" r="0" b="0"/>
            </a:stretch>
          </a:blipFill>
        </p:spPr>
      </p:sp>
      <p:sp>
        <p:nvSpPr>
          <p:cNvPr name="TextBox 7" id="7"/>
          <p:cNvSpPr txBox="true"/>
          <p:nvPr/>
        </p:nvSpPr>
        <p:spPr>
          <a:xfrm rot="0">
            <a:off x="10608673" y="6489733"/>
            <a:ext cx="6650627" cy="1842135"/>
          </a:xfrm>
          <a:prstGeom prst="rect">
            <a:avLst/>
          </a:prstGeom>
        </p:spPr>
        <p:txBody>
          <a:bodyPr anchor="t" rtlCol="false" tIns="0" lIns="0" bIns="0" rIns="0">
            <a:spAutoFit/>
          </a:bodyPr>
          <a:lstStyle/>
          <a:p>
            <a:pPr algn="l">
              <a:lnSpc>
                <a:spcPts val="2940"/>
              </a:lnSpc>
            </a:pPr>
            <a:r>
              <a:rPr lang="en-US" sz="2100">
                <a:solidFill>
                  <a:srgbClr val="000000"/>
                </a:solidFill>
                <a:latin typeface="Atkinson Hyperlegible"/>
              </a:rPr>
              <a:t>Model Mahcine Learning kami dapat dilihat pada link berikut ini:</a:t>
            </a:r>
          </a:p>
          <a:p>
            <a:pPr algn="l">
              <a:lnSpc>
                <a:spcPts val="2940"/>
              </a:lnSpc>
            </a:pPr>
          </a:p>
          <a:p>
            <a:pPr algn="l">
              <a:lnSpc>
                <a:spcPts val="2940"/>
              </a:lnSpc>
            </a:pPr>
            <a:r>
              <a:rPr lang="en-US" sz="2100">
                <a:solidFill>
                  <a:srgbClr val="000000"/>
                </a:solidFill>
                <a:latin typeface="Atkinson Hyperlegible"/>
              </a:rPr>
              <a:t>https://drive.google.com/drive/folders/1yGlijfBB9NfPh2iz5trlylx74jM1jf3S?usp=sharing</a:t>
            </a:r>
          </a:p>
        </p:txBody>
      </p:sp>
      <p:sp>
        <p:nvSpPr>
          <p:cNvPr name="TextBox 8" id="8"/>
          <p:cNvSpPr txBox="true"/>
          <p:nvPr/>
        </p:nvSpPr>
        <p:spPr>
          <a:xfrm rot="0">
            <a:off x="484789" y="866775"/>
            <a:ext cx="17318421" cy="1386841"/>
          </a:xfrm>
          <a:prstGeom prst="rect">
            <a:avLst/>
          </a:prstGeom>
        </p:spPr>
        <p:txBody>
          <a:bodyPr anchor="t" rtlCol="false" tIns="0" lIns="0" bIns="0" rIns="0">
            <a:spAutoFit/>
          </a:bodyPr>
          <a:lstStyle/>
          <a:p>
            <a:pPr algn="ctr" marL="0" indent="0" lvl="0">
              <a:lnSpc>
                <a:spcPts val="11279"/>
              </a:lnSpc>
              <a:spcBef>
                <a:spcPct val="0"/>
              </a:spcBef>
            </a:pPr>
            <a:r>
              <a:rPr lang="en-US" sz="7999">
                <a:solidFill>
                  <a:srgbClr val="5CE1E6"/>
                </a:solidFill>
                <a:latin typeface="Mokoto"/>
              </a:rPr>
              <a:t>Machine Learning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2F2"/>
        </a:solidFill>
      </p:bgPr>
    </p:bg>
    <p:spTree>
      <p:nvGrpSpPr>
        <p:cNvPr id="1" name=""/>
        <p:cNvGrpSpPr/>
        <p:nvPr/>
      </p:nvGrpSpPr>
      <p:grpSpPr>
        <a:xfrm>
          <a:off x="0" y="0"/>
          <a:ext cx="0" cy="0"/>
          <a:chOff x="0" y="0"/>
          <a:chExt cx="0" cy="0"/>
        </a:xfrm>
      </p:grpSpPr>
      <p:sp>
        <p:nvSpPr>
          <p:cNvPr name="Freeform 2" id="2"/>
          <p:cNvSpPr/>
          <p:nvPr/>
        </p:nvSpPr>
        <p:spPr>
          <a:xfrm flipH="false" flipV="false" rot="0">
            <a:off x="-715334" y="-4715834"/>
            <a:ext cx="19718669" cy="19718669"/>
          </a:xfrm>
          <a:custGeom>
            <a:avLst/>
            <a:gdLst/>
            <a:ahLst/>
            <a:cxnLst/>
            <a:rect r="r" b="b" t="t" l="l"/>
            <a:pathLst>
              <a:path h="19718669" w="19718669">
                <a:moveTo>
                  <a:pt x="0" y="0"/>
                </a:moveTo>
                <a:lnTo>
                  <a:pt x="19718668" y="0"/>
                </a:lnTo>
                <a:lnTo>
                  <a:pt x="19718668" y="19718668"/>
                </a:lnTo>
                <a:lnTo>
                  <a:pt x="0" y="19718668"/>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7976" y="645481"/>
            <a:ext cx="12129844" cy="10704588"/>
          </a:xfrm>
          <a:custGeom>
            <a:avLst/>
            <a:gdLst/>
            <a:ahLst/>
            <a:cxnLst/>
            <a:rect r="r" b="b" t="t" l="l"/>
            <a:pathLst>
              <a:path h="10704588" w="12129844">
                <a:moveTo>
                  <a:pt x="0" y="0"/>
                </a:moveTo>
                <a:lnTo>
                  <a:pt x="12129845" y="0"/>
                </a:lnTo>
                <a:lnTo>
                  <a:pt x="12129845" y="10704588"/>
                </a:lnTo>
                <a:lnTo>
                  <a:pt x="0" y="10704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75102" y="2727315"/>
            <a:ext cx="10975592" cy="1598296"/>
          </a:xfrm>
          <a:prstGeom prst="rect">
            <a:avLst/>
          </a:prstGeom>
        </p:spPr>
        <p:txBody>
          <a:bodyPr anchor="t" rtlCol="false" tIns="0" lIns="0" bIns="0" rIns="0">
            <a:spAutoFit/>
          </a:bodyPr>
          <a:lstStyle/>
          <a:p>
            <a:pPr algn="ctr" marL="0" indent="0" lvl="0">
              <a:lnSpc>
                <a:spcPts val="13199"/>
              </a:lnSpc>
            </a:pPr>
            <a:r>
              <a:rPr lang="en-US" sz="8799">
                <a:solidFill>
                  <a:srgbClr val="5CE1E6"/>
                </a:solidFill>
                <a:latin typeface="Mokoto"/>
              </a:rPr>
              <a:t>Kesimpulan</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28668"/>
            <a:ext cx="17767554" cy="9829664"/>
            <a:chOff x="0" y="0"/>
            <a:chExt cx="4679520" cy="2588883"/>
          </a:xfrm>
        </p:grpSpPr>
        <p:sp>
          <p:nvSpPr>
            <p:cNvPr name="Freeform 3" id="3"/>
            <p:cNvSpPr/>
            <p:nvPr/>
          </p:nvSpPr>
          <p:spPr>
            <a:xfrm flipH="false" flipV="false" rot="0">
              <a:off x="0" y="0"/>
              <a:ext cx="4679520" cy="2588883"/>
            </a:xfrm>
            <a:custGeom>
              <a:avLst/>
              <a:gdLst/>
              <a:ahLst/>
              <a:cxnLst/>
              <a:rect r="r" b="b" t="t" l="l"/>
              <a:pathLst>
                <a:path h="2588883" w="4679520">
                  <a:moveTo>
                    <a:pt x="22222" y="0"/>
                  </a:moveTo>
                  <a:lnTo>
                    <a:pt x="4657298" y="0"/>
                  </a:lnTo>
                  <a:cubicBezTo>
                    <a:pt x="4663191" y="0"/>
                    <a:pt x="4668844" y="2341"/>
                    <a:pt x="4673011" y="6509"/>
                  </a:cubicBezTo>
                  <a:cubicBezTo>
                    <a:pt x="4677179" y="10676"/>
                    <a:pt x="4679520" y="16329"/>
                    <a:pt x="4679520" y="22222"/>
                  </a:cubicBezTo>
                  <a:lnTo>
                    <a:pt x="4679520" y="2566660"/>
                  </a:lnTo>
                  <a:cubicBezTo>
                    <a:pt x="4679520" y="2572554"/>
                    <a:pt x="4677179" y="2578206"/>
                    <a:pt x="4673011" y="2582374"/>
                  </a:cubicBezTo>
                  <a:cubicBezTo>
                    <a:pt x="4668844" y="2586541"/>
                    <a:pt x="4663191" y="2588883"/>
                    <a:pt x="4657298" y="2588883"/>
                  </a:cubicBezTo>
                  <a:lnTo>
                    <a:pt x="22222" y="2588883"/>
                  </a:lnTo>
                  <a:cubicBezTo>
                    <a:pt x="16329" y="2588883"/>
                    <a:pt x="10676" y="2586541"/>
                    <a:pt x="6509" y="2582374"/>
                  </a:cubicBezTo>
                  <a:cubicBezTo>
                    <a:pt x="2341" y="2578206"/>
                    <a:pt x="0" y="2572554"/>
                    <a:pt x="0" y="2566660"/>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65083"/>
            </a:xfrm>
            <a:prstGeom prst="rect">
              <a:avLst/>
            </a:prstGeom>
          </p:spPr>
          <p:txBody>
            <a:bodyPr anchor="ctr" rtlCol="false" tIns="50800" lIns="50800" bIns="50800" rIns="50800"/>
            <a:lstStyle/>
            <a:p>
              <a:pPr algn="ctr">
                <a:lnSpc>
                  <a:spcPts val="3672"/>
                </a:lnSpc>
              </a:pPr>
            </a:p>
          </p:txBody>
        </p:sp>
      </p:grpSp>
      <p:grpSp>
        <p:nvGrpSpPr>
          <p:cNvPr name="Group 5" id="5"/>
          <p:cNvGrpSpPr/>
          <p:nvPr/>
        </p:nvGrpSpPr>
        <p:grpSpPr>
          <a:xfrm rot="0">
            <a:off x="9144000" y="2412175"/>
            <a:ext cx="8390847" cy="2644139"/>
            <a:chOff x="0" y="0"/>
            <a:chExt cx="11187796" cy="3525519"/>
          </a:xfrm>
        </p:grpSpPr>
        <p:sp>
          <p:nvSpPr>
            <p:cNvPr name="TextBox 6" id="6"/>
            <p:cNvSpPr txBox="true"/>
            <p:nvPr/>
          </p:nvSpPr>
          <p:spPr>
            <a:xfrm rot="0">
              <a:off x="3638086" y="-38100"/>
              <a:ext cx="7549710" cy="34340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00000"/>
                  </a:solidFill>
                  <a:latin typeface="Atkinson Hyperlegible"/>
                </a:rPr>
                <a:t>Mayoritas pasien tidak merasa puas dengan pelayanan yang didapatkan. Ini terlihat pada tingkat kepuasan pasien sebesar 40.17%. Oleh karena itu, perlu dilakukan peningkatan pelayan yang berfokus pada pengalaman pasien dan perbaikan fasilitas pelayanan di seluruh cabang Rumah Sakit Mulia.</a:t>
              </a:r>
              <a:r>
                <a:rPr lang="en-US" sz="2100">
                  <a:solidFill>
                    <a:srgbClr val="000000"/>
                  </a:solidFill>
                  <a:latin typeface="Atkinson Hyperlegible"/>
                </a:rPr>
                <a:t> </a:t>
              </a:r>
            </a:p>
          </p:txBody>
        </p:sp>
        <p:sp>
          <p:nvSpPr>
            <p:cNvPr name="TextBox 7" id="7"/>
            <p:cNvSpPr txBox="true"/>
            <p:nvPr/>
          </p:nvSpPr>
          <p:spPr>
            <a:xfrm rot="0">
              <a:off x="0" y="-171450"/>
              <a:ext cx="2822775" cy="3696969"/>
            </a:xfrm>
            <a:prstGeom prst="rect">
              <a:avLst/>
            </a:prstGeom>
          </p:spPr>
          <p:txBody>
            <a:bodyPr anchor="t" rtlCol="false" tIns="0" lIns="0" bIns="0" rIns="0">
              <a:spAutoFit/>
            </a:bodyPr>
            <a:lstStyle/>
            <a:p>
              <a:pPr algn="ctr" marL="0" indent="0" lvl="0">
                <a:lnSpc>
                  <a:spcPts val="11280"/>
                </a:lnSpc>
                <a:spcBef>
                  <a:spcPct val="0"/>
                </a:spcBef>
              </a:pPr>
              <a:r>
                <a:rPr lang="en-US" sz="8000" strike="noStrike" u="none">
                  <a:solidFill>
                    <a:srgbClr val="004AAD"/>
                  </a:solidFill>
                  <a:latin typeface="Mokoto"/>
                </a:rPr>
                <a:t>04</a:t>
              </a:r>
            </a:p>
            <a:p>
              <a:pPr algn="ctr" marL="0" indent="0" lvl="0">
                <a:lnSpc>
                  <a:spcPts val="11280"/>
                </a:lnSpc>
                <a:spcBef>
                  <a:spcPct val="0"/>
                </a:spcBef>
              </a:pPr>
            </a:p>
          </p:txBody>
        </p:sp>
      </p:grpSp>
      <p:grpSp>
        <p:nvGrpSpPr>
          <p:cNvPr name="Group 8" id="8"/>
          <p:cNvGrpSpPr/>
          <p:nvPr/>
        </p:nvGrpSpPr>
        <p:grpSpPr>
          <a:xfrm rot="0">
            <a:off x="647093" y="2411112"/>
            <a:ext cx="7890528" cy="1804035"/>
            <a:chOff x="0" y="0"/>
            <a:chExt cx="10520704" cy="2405380"/>
          </a:xfrm>
        </p:grpSpPr>
        <p:sp>
          <p:nvSpPr>
            <p:cNvPr name="TextBox 9" id="9"/>
            <p:cNvSpPr txBox="true"/>
            <p:nvPr/>
          </p:nvSpPr>
          <p:spPr>
            <a:xfrm rot="0">
              <a:off x="3371102" y="-38100"/>
              <a:ext cx="7149602" cy="24434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00000"/>
                  </a:solidFill>
                  <a:latin typeface="Atkinson Hyperlegible"/>
                </a:rPr>
                <a:t>Cabang RSMA memiliki performance index 86.03%. Cabang RSMD memiliki performance index 86.06%. Cabang RSMS memiliki performance index tertinggi dibanding cabang lainnya sebesar 86.09%</a:t>
              </a:r>
            </a:p>
          </p:txBody>
        </p:sp>
        <p:sp>
          <p:nvSpPr>
            <p:cNvPr name="TextBox 10" id="10"/>
            <p:cNvSpPr txBox="true"/>
            <p:nvPr/>
          </p:nvSpPr>
          <p:spPr>
            <a:xfrm rot="0">
              <a:off x="0" y="-171450"/>
              <a:ext cx="2942664" cy="1791969"/>
            </a:xfrm>
            <a:prstGeom prst="rect">
              <a:avLst/>
            </a:prstGeom>
          </p:spPr>
          <p:txBody>
            <a:bodyPr anchor="t" rtlCol="false" tIns="0" lIns="0" bIns="0" rIns="0">
              <a:spAutoFit/>
            </a:bodyPr>
            <a:lstStyle/>
            <a:p>
              <a:pPr algn="ctr" marL="0" indent="0" lvl="0">
                <a:lnSpc>
                  <a:spcPts val="11280"/>
                </a:lnSpc>
                <a:spcBef>
                  <a:spcPct val="0"/>
                </a:spcBef>
              </a:pPr>
              <a:r>
                <a:rPr lang="en-US" sz="8000" spc="1552" strike="noStrike" u="none">
                  <a:solidFill>
                    <a:srgbClr val="FEC801"/>
                  </a:solidFill>
                  <a:latin typeface="Mokoto"/>
                </a:rPr>
                <a:t>01</a:t>
              </a:r>
            </a:p>
          </p:txBody>
        </p:sp>
      </p:grpSp>
      <p:grpSp>
        <p:nvGrpSpPr>
          <p:cNvPr name="Group 11" id="11"/>
          <p:cNvGrpSpPr/>
          <p:nvPr/>
        </p:nvGrpSpPr>
        <p:grpSpPr>
          <a:xfrm rot="0">
            <a:off x="702315" y="4929522"/>
            <a:ext cx="7835307" cy="1432560"/>
            <a:chOff x="0" y="0"/>
            <a:chExt cx="10447075" cy="1910080"/>
          </a:xfrm>
        </p:grpSpPr>
        <p:sp>
          <p:nvSpPr>
            <p:cNvPr name="TextBox 12" id="12"/>
            <p:cNvSpPr txBox="true"/>
            <p:nvPr/>
          </p:nvSpPr>
          <p:spPr>
            <a:xfrm rot="0">
              <a:off x="3262716" y="-38100"/>
              <a:ext cx="7184360" cy="19481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00000"/>
                  </a:solidFill>
                  <a:latin typeface="Atkinson Hyperlegible"/>
                </a:rPr>
                <a:t>Selama periode 2020 – 2024 Rumah Sakit Mulia melayani 9474 pasien, mendapatkan revenue 80.81 Miliar, dengan profit 8.63 Miliar, dan profit margin 10.68 %</a:t>
              </a:r>
              <a:r>
                <a:rPr lang="en-US" sz="2100">
                  <a:solidFill>
                    <a:srgbClr val="000000"/>
                  </a:solidFill>
                  <a:latin typeface="Atkinson Hyperlegible"/>
                </a:rPr>
                <a:t> </a:t>
              </a:r>
            </a:p>
          </p:txBody>
        </p:sp>
        <p:sp>
          <p:nvSpPr>
            <p:cNvPr name="TextBox 13" id="13"/>
            <p:cNvSpPr txBox="true"/>
            <p:nvPr/>
          </p:nvSpPr>
          <p:spPr>
            <a:xfrm rot="0">
              <a:off x="0" y="-171450"/>
              <a:ext cx="2822775" cy="1791969"/>
            </a:xfrm>
            <a:prstGeom prst="rect">
              <a:avLst/>
            </a:prstGeom>
          </p:spPr>
          <p:txBody>
            <a:bodyPr anchor="t" rtlCol="false" tIns="0" lIns="0" bIns="0" rIns="0">
              <a:spAutoFit/>
            </a:bodyPr>
            <a:lstStyle/>
            <a:p>
              <a:pPr algn="ctr" marL="0" indent="0" lvl="0">
                <a:lnSpc>
                  <a:spcPts val="11280"/>
                </a:lnSpc>
                <a:spcBef>
                  <a:spcPct val="0"/>
                </a:spcBef>
              </a:pPr>
              <a:r>
                <a:rPr lang="en-US" sz="8000" strike="noStrike" u="none">
                  <a:solidFill>
                    <a:srgbClr val="02B676"/>
                  </a:solidFill>
                  <a:latin typeface="Mokoto"/>
                </a:rPr>
                <a:t>02</a:t>
              </a:r>
            </a:p>
          </p:txBody>
        </p:sp>
      </p:grpSp>
      <p:grpSp>
        <p:nvGrpSpPr>
          <p:cNvPr name="Group 14" id="14"/>
          <p:cNvGrpSpPr/>
          <p:nvPr/>
        </p:nvGrpSpPr>
        <p:grpSpPr>
          <a:xfrm rot="0">
            <a:off x="702315" y="7076456"/>
            <a:ext cx="7835307" cy="1804035"/>
            <a:chOff x="0" y="0"/>
            <a:chExt cx="10447075" cy="2405380"/>
          </a:xfrm>
        </p:grpSpPr>
        <p:sp>
          <p:nvSpPr>
            <p:cNvPr name="TextBox 15" id="15"/>
            <p:cNvSpPr txBox="true"/>
            <p:nvPr/>
          </p:nvSpPr>
          <p:spPr>
            <a:xfrm rot="0">
              <a:off x="3262716" y="-38100"/>
              <a:ext cx="7184360" cy="24434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00000"/>
                  </a:solidFill>
                  <a:latin typeface="Atkinson Hyperlegible"/>
                </a:rPr>
                <a:t>Profit margin &gt; 10% mengindikasikan keuangan yang cukup sehat dan membuka peluang untuk investasi teknologi medis, agar Rumah Sakit Mulia dapat meningkatkan efisiensi dan kualitas pelayanan.</a:t>
              </a:r>
              <a:r>
                <a:rPr lang="en-US" sz="2100">
                  <a:solidFill>
                    <a:srgbClr val="000000"/>
                  </a:solidFill>
                  <a:latin typeface="Atkinson Hyperlegible"/>
                </a:rPr>
                <a:t> </a:t>
              </a:r>
            </a:p>
          </p:txBody>
        </p:sp>
        <p:sp>
          <p:nvSpPr>
            <p:cNvPr name="TextBox 16" id="16"/>
            <p:cNvSpPr txBox="true"/>
            <p:nvPr/>
          </p:nvSpPr>
          <p:spPr>
            <a:xfrm rot="0">
              <a:off x="0" y="-171450"/>
              <a:ext cx="2822775" cy="1791969"/>
            </a:xfrm>
            <a:prstGeom prst="rect">
              <a:avLst/>
            </a:prstGeom>
          </p:spPr>
          <p:txBody>
            <a:bodyPr anchor="t" rtlCol="false" tIns="0" lIns="0" bIns="0" rIns="0">
              <a:spAutoFit/>
            </a:bodyPr>
            <a:lstStyle/>
            <a:p>
              <a:pPr algn="ctr" marL="0" indent="0" lvl="0">
                <a:lnSpc>
                  <a:spcPts val="11280"/>
                </a:lnSpc>
                <a:spcBef>
                  <a:spcPct val="0"/>
                </a:spcBef>
              </a:pPr>
              <a:r>
                <a:rPr lang="en-US" sz="8000" strike="noStrike" u="none">
                  <a:solidFill>
                    <a:srgbClr val="EF82EB"/>
                  </a:solidFill>
                  <a:latin typeface="Mokoto"/>
                </a:rPr>
                <a:t>03</a:t>
              </a:r>
            </a:p>
          </p:txBody>
        </p:sp>
      </p:grpSp>
      <p:sp>
        <p:nvSpPr>
          <p:cNvPr name="TextBox 17" id="17"/>
          <p:cNvSpPr txBox="true"/>
          <p:nvPr/>
        </p:nvSpPr>
        <p:spPr>
          <a:xfrm rot="0">
            <a:off x="484789" y="574690"/>
            <a:ext cx="17318421" cy="1124712"/>
          </a:xfrm>
          <a:prstGeom prst="rect">
            <a:avLst/>
          </a:prstGeom>
        </p:spPr>
        <p:txBody>
          <a:bodyPr anchor="t" rtlCol="false" tIns="0" lIns="0" bIns="0" rIns="0">
            <a:spAutoFit/>
          </a:bodyPr>
          <a:lstStyle/>
          <a:p>
            <a:pPr algn="ctr" marL="0" indent="0" lvl="0">
              <a:lnSpc>
                <a:spcPts val="9023"/>
              </a:lnSpc>
              <a:spcBef>
                <a:spcPct val="0"/>
              </a:spcBef>
            </a:pPr>
            <a:r>
              <a:rPr lang="en-US" sz="6399">
                <a:solidFill>
                  <a:srgbClr val="5CE1E6"/>
                </a:solidFill>
                <a:latin typeface="Mokoto"/>
              </a:rPr>
              <a:t>KESIMPULAN</a:t>
            </a:r>
          </a:p>
        </p:txBody>
      </p:sp>
      <p:grpSp>
        <p:nvGrpSpPr>
          <p:cNvPr name="Group 18" id="18"/>
          <p:cNvGrpSpPr/>
          <p:nvPr/>
        </p:nvGrpSpPr>
        <p:grpSpPr>
          <a:xfrm rot="0">
            <a:off x="9144000" y="5445776"/>
            <a:ext cx="8115300" cy="1804035"/>
            <a:chOff x="0" y="0"/>
            <a:chExt cx="10820400" cy="2405380"/>
          </a:xfrm>
        </p:grpSpPr>
        <p:sp>
          <p:nvSpPr>
            <p:cNvPr name="TextBox 19" id="19"/>
            <p:cNvSpPr txBox="true"/>
            <p:nvPr/>
          </p:nvSpPr>
          <p:spPr>
            <a:xfrm rot="0">
              <a:off x="3638086" y="-38100"/>
              <a:ext cx="7182314" cy="24434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00000"/>
                  </a:solidFill>
                  <a:latin typeface="Atkinson Hyperlegible"/>
                </a:rPr>
                <a:t>Didapatkan prediksi </a:t>
              </a:r>
              <a:r>
                <a:rPr lang="en-US" sz="2100">
                  <a:solidFill>
                    <a:srgbClr val="000000"/>
                  </a:solidFill>
                  <a:latin typeface="Atkinson Hyperlegible Italics"/>
                </a:rPr>
                <a:t>index performance </a:t>
              </a:r>
              <a:r>
                <a:rPr lang="en-US" sz="2100">
                  <a:solidFill>
                    <a:srgbClr val="000000"/>
                  </a:solidFill>
                  <a:latin typeface="Atkinson Hyperlegible"/>
                </a:rPr>
                <a:t>pada bulan Februari 2024 untuk ketiga cabang Rumah Sakit Mulia sebagai berikut, RSMA sebesar 55%, RSMD sebesar 71%, dan RSMS sebesar 65%. </a:t>
              </a:r>
            </a:p>
          </p:txBody>
        </p:sp>
        <p:sp>
          <p:nvSpPr>
            <p:cNvPr name="TextBox 20" id="20"/>
            <p:cNvSpPr txBox="true"/>
            <p:nvPr/>
          </p:nvSpPr>
          <p:spPr>
            <a:xfrm rot="0">
              <a:off x="0" y="-171450"/>
              <a:ext cx="2822775" cy="1791969"/>
            </a:xfrm>
            <a:prstGeom prst="rect">
              <a:avLst/>
            </a:prstGeom>
          </p:spPr>
          <p:txBody>
            <a:bodyPr anchor="t" rtlCol="false" tIns="0" lIns="0" bIns="0" rIns="0">
              <a:spAutoFit/>
            </a:bodyPr>
            <a:lstStyle/>
            <a:p>
              <a:pPr algn="ctr" marL="0" indent="0" lvl="0">
                <a:lnSpc>
                  <a:spcPts val="11280"/>
                </a:lnSpc>
                <a:spcBef>
                  <a:spcPct val="0"/>
                </a:spcBef>
              </a:pPr>
              <a:r>
                <a:rPr lang="en-US" sz="8000">
                  <a:solidFill>
                    <a:srgbClr val="7925E9"/>
                  </a:solidFill>
                  <a:latin typeface="Mokoto"/>
                </a:rPr>
                <a:t>05</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AFBDC4"/>
        </a:solidFill>
      </p:bgPr>
    </p:bg>
    <p:spTree>
      <p:nvGrpSpPr>
        <p:cNvPr id="1" name=""/>
        <p:cNvGrpSpPr/>
        <p:nvPr/>
      </p:nvGrpSpPr>
      <p:grpSpPr>
        <a:xfrm>
          <a:off x="0" y="0"/>
          <a:ext cx="0" cy="0"/>
          <a:chOff x="0" y="0"/>
          <a:chExt cx="0" cy="0"/>
        </a:xfrm>
      </p:grpSpPr>
      <p:grpSp>
        <p:nvGrpSpPr>
          <p:cNvPr name="Group 2" id="2"/>
          <p:cNvGrpSpPr/>
          <p:nvPr/>
        </p:nvGrpSpPr>
        <p:grpSpPr>
          <a:xfrm rot="0">
            <a:off x="260223" y="260223"/>
            <a:ext cx="17767554" cy="9766554"/>
            <a:chOff x="0" y="0"/>
            <a:chExt cx="4679520" cy="2572261"/>
          </a:xfrm>
        </p:grpSpPr>
        <p:sp>
          <p:nvSpPr>
            <p:cNvPr name="Freeform 3" id="3"/>
            <p:cNvSpPr/>
            <p:nvPr/>
          </p:nvSpPr>
          <p:spPr>
            <a:xfrm flipH="false" flipV="false" rot="0">
              <a:off x="0" y="0"/>
              <a:ext cx="4679520" cy="2572261"/>
            </a:xfrm>
            <a:custGeom>
              <a:avLst/>
              <a:gdLst/>
              <a:ahLst/>
              <a:cxnLst/>
              <a:rect r="r" b="b" t="t" l="l"/>
              <a:pathLst>
                <a:path h="2572261" w="4679520">
                  <a:moveTo>
                    <a:pt x="22222" y="0"/>
                  </a:moveTo>
                  <a:lnTo>
                    <a:pt x="4657298" y="0"/>
                  </a:lnTo>
                  <a:cubicBezTo>
                    <a:pt x="4663191" y="0"/>
                    <a:pt x="4668844" y="2341"/>
                    <a:pt x="4673011" y="6509"/>
                  </a:cubicBezTo>
                  <a:cubicBezTo>
                    <a:pt x="4677179" y="10676"/>
                    <a:pt x="4679520" y="16329"/>
                    <a:pt x="4679520" y="22222"/>
                  </a:cubicBezTo>
                  <a:lnTo>
                    <a:pt x="4679520" y="2550039"/>
                  </a:lnTo>
                  <a:cubicBezTo>
                    <a:pt x="4679520" y="2555933"/>
                    <a:pt x="4677179" y="2561585"/>
                    <a:pt x="4673011" y="2565752"/>
                  </a:cubicBezTo>
                  <a:cubicBezTo>
                    <a:pt x="4668844" y="2569920"/>
                    <a:pt x="4663191" y="2572261"/>
                    <a:pt x="4657298" y="2572261"/>
                  </a:cubicBezTo>
                  <a:lnTo>
                    <a:pt x="22222" y="2572261"/>
                  </a:lnTo>
                  <a:cubicBezTo>
                    <a:pt x="16329" y="2572261"/>
                    <a:pt x="10676" y="2569920"/>
                    <a:pt x="6509" y="2565752"/>
                  </a:cubicBezTo>
                  <a:cubicBezTo>
                    <a:pt x="2341" y="2561585"/>
                    <a:pt x="0" y="2555933"/>
                    <a:pt x="0" y="2550039"/>
                  </a:cubicBezTo>
                  <a:lnTo>
                    <a:pt x="0" y="22222"/>
                  </a:lnTo>
                  <a:cubicBezTo>
                    <a:pt x="0" y="16329"/>
                    <a:pt x="2341" y="10676"/>
                    <a:pt x="6509" y="6509"/>
                  </a:cubicBezTo>
                  <a:cubicBezTo>
                    <a:pt x="10676" y="2341"/>
                    <a:pt x="16329" y="0"/>
                    <a:pt x="22222" y="0"/>
                  </a:cubicBezTo>
                  <a:close/>
                </a:path>
              </a:pathLst>
            </a:custGeom>
            <a:solidFill>
              <a:srgbClr val="F2F2F2"/>
            </a:solidFill>
            <a:ln w="47625" cap="rnd">
              <a:solidFill>
                <a:srgbClr val="000000"/>
              </a:solidFill>
              <a:prstDash val="solid"/>
              <a:round/>
            </a:ln>
          </p:spPr>
        </p:sp>
        <p:sp>
          <p:nvSpPr>
            <p:cNvPr name="TextBox 4" id="4"/>
            <p:cNvSpPr txBox="true"/>
            <p:nvPr/>
          </p:nvSpPr>
          <p:spPr>
            <a:xfrm>
              <a:off x="0" y="-76200"/>
              <a:ext cx="4679520" cy="2648461"/>
            </a:xfrm>
            <a:prstGeom prst="rect">
              <a:avLst/>
            </a:prstGeom>
          </p:spPr>
          <p:txBody>
            <a:bodyPr anchor="ctr" rtlCol="false" tIns="50800" lIns="50800" bIns="50800" rIns="50800"/>
            <a:lstStyle/>
            <a:p>
              <a:pPr algn="ctr">
                <a:lnSpc>
                  <a:spcPts val="3672"/>
                </a:lnSpc>
              </a:pPr>
            </a:p>
          </p:txBody>
        </p:sp>
      </p:grpSp>
      <p:sp>
        <p:nvSpPr>
          <p:cNvPr name="TextBox 5" id="5"/>
          <p:cNvSpPr txBox="true"/>
          <p:nvPr/>
        </p:nvSpPr>
        <p:spPr>
          <a:xfrm rot="0">
            <a:off x="9464131" y="3668949"/>
            <a:ext cx="7415533" cy="2815591"/>
          </a:xfrm>
          <a:prstGeom prst="rect">
            <a:avLst/>
          </a:prstGeom>
        </p:spPr>
        <p:txBody>
          <a:bodyPr anchor="t" rtlCol="false" tIns="0" lIns="0" bIns="0" rIns="0">
            <a:spAutoFit/>
          </a:bodyPr>
          <a:lstStyle/>
          <a:p>
            <a:pPr algn="ctr">
              <a:lnSpc>
                <a:spcPts val="11279"/>
              </a:lnSpc>
            </a:pPr>
            <a:r>
              <a:rPr lang="en-US" sz="7999">
                <a:solidFill>
                  <a:srgbClr val="FEC801"/>
                </a:solidFill>
                <a:latin typeface="Mokoto"/>
              </a:rPr>
              <a:t>TERIMA</a:t>
            </a:r>
          </a:p>
          <a:p>
            <a:pPr algn="ctr" marL="0" indent="0" lvl="0">
              <a:lnSpc>
                <a:spcPts val="11279"/>
              </a:lnSpc>
              <a:spcBef>
                <a:spcPct val="0"/>
              </a:spcBef>
            </a:pPr>
            <a:r>
              <a:rPr lang="en-US" sz="7999">
                <a:solidFill>
                  <a:srgbClr val="FEC801"/>
                </a:solidFill>
                <a:latin typeface="Mokoto"/>
              </a:rPr>
              <a:t>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DAGGx2XoeoE</dc:identifier>
  <dcterms:modified xsi:type="dcterms:W3CDTF">2011-08-01T06:04:30Z</dcterms:modified>
  <cp:revision>1</cp:revision>
  <dc:title>FP_team2_presentation</dc:title>
</cp:coreProperties>
</file>